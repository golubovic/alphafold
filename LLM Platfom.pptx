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63" r:id="rId4"/>
    <p:sldId id="260" r:id="rId5"/>
    <p:sldId id="262" r:id="rId6"/>
    <p:sldId id="267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>
        <p:scale>
          <a:sx n="110" d="100"/>
          <a:sy n="110" d="100"/>
        </p:scale>
        <p:origin x="14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D5AD-C2D6-B9AE-DC4D-1DFB21302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A480F-8769-C3BF-14D6-3C0B3C2BC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DA909-714A-03D9-1890-6C825418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BD135-3153-F33E-850C-799375BE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92E32-26A5-7332-09FD-49531B9BF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1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4B34-8F81-CF03-017A-EE579D32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62A60-ED68-A26F-5F69-C1C5421AD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47B78-CBB3-A3C4-10EA-4763B597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1F444-0B65-3606-3078-A33124C7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4D124-9896-AC70-85F2-DE0F6C9C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2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02D20-DD04-8B16-F91E-256E8969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BA3DC-0152-822F-6ED1-212B0EBCD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6C9A2-1A5C-7B23-B138-7FE65C85C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80164-DB1C-19E6-E964-81D6C956B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82F94-3CC1-A4EE-F08E-D4F3531F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4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BF67-484B-5365-8112-E23E85272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A36BF-85E0-6AE6-BBCE-B7A2543CA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B7EAB-ADEA-5255-3E2E-FA4979266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13229-740C-3EC4-8753-CFAFD28D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45154-6A90-F2F9-6666-ADF415D1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351FA-C0F9-6D59-DFEB-68E5D696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6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E2AD-9FBC-3916-5986-8638D5C3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D0827-2357-FDB0-E365-69F94E394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9C1A8-A188-254E-1205-E12FAFB0B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EAB2E-4605-5AA4-7E5A-D915CAB44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AEC00A-4F2C-207A-C642-913AE1A53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39E6B-4342-2045-CE37-E8B59A48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A5964-2888-50BF-0B04-8F8A7D9F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D0A03-BAF7-58F8-1F23-F5478392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6CA7-A022-8746-A852-0938D8CC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FD3EC-0E57-A65B-1702-1BF885CF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9CB48-BC42-4543-0D3F-B29A20B2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4ADD4-A3A3-44F7-75E9-D6B027AE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2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93D4A-78A7-C500-5B78-7A52479E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A22A0-1ED9-1B0A-011B-0262ADD7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EA306-7EF5-8BFA-F704-AF557ACC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9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49A5-36CC-7893-8307-A0C3E2D3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11499-CA10-3C12-4471-B6148FBCA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502B4-B6C1-9773-3949-9578A586D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465C3-F327-5914-A734-B60F8751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4B95D-A814-0CCD-52A5-677B0BA2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25870-9571-9358-2B06-6C287CB8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8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1110-BF59-E68D-24BC-C411329C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44433-3FF2-20F9-917D-630314A1F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807A8-61C9-8E78-DDCA-BA0451485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7B78B-A68C-3C3F-9372-1F45FA399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54544-8E6D-7999-13C0-30A0A3FA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B540-26AA-1C9C-9847-178D50EF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5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F7F8-60FB-CAA9-AD3B-F4943830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E0FDB-9DD4-51C8-0E3D-95AB3F831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A539A-27EF-46DD-EB6A-E24EDE1E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16F49-6D64-B6AF-18B6-43A277A6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89A1D-D6B9-651A-B5FF-A1BDAF6CB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7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11534-643C-0E50-6BFD-2FB459152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56066-EF60-35A8-5315-06C6767E0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B5EFB-6E6D-733F-CEF0-FAE06F586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FAF94-946A-0303-E28A-08E10CAF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15BB2-B626-1E3B-F926-E1E1988F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3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2605C-26AF-8753-3EBC-A10E3224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65CFA-7B1C-CF77-6FEF-AA18A9102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FB35-43B8-4121-F033-9EC45C064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B5846-FEF4-4734-B0CE-BF4049849835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6CDC4-E5D2-0D08-6300-B046E7E8E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9B541-7669-E690-D40B-E781CDE18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37E42-CDC1-4284-84CB-5B918794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1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iscuss.streamlit.io/t/new-component-streamlit-chat-a-new-way-to-create-chatbots/20412" TargetMode="External"/><Relationship Id="rId3" Type="http://schemas.openxmlformats.org/officeDocument/2006/relationships/hyperlink" Target="https://huggingface.co/datasets/bigscience/P3" TargetMode="External"/><Relationship Id="rId7" Type="http://schemas.openxmlformats.org/officeDocument/2006/relationships/hyperlink" Target="https://streamlit.io/" TargetMode="External"/><Relationship Id="rId2" Type="http://schemas.openxmlformats.org/officeDocument/2006/relationships/hyperlink" Target="https://python.langchain.com/en/latest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mptlayer.com/" TargetMode="External"/><Relationship Id="rId5" Type="http://schemas.openxmlformats.org/officeDocument/2006/relationships/hyperlink" Target="https://www.helicone.ai/" TargetMode="External"/><Relationship Id="rId4" Type="http://schemas.openxmlformats.org/officeDocument/2006/relationships/hyperlink" Target="https://github.com/bigscience-workshop/promptsource" TargetMode="External"/><Relationship Id="rId9" Type="http://schemas.openxmlformats.org/officeDocument/2006/relationships/hyperlink" Target="https://atlas.nomic.ai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13D-69F9-66EC-2CB0-396A888C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971362" cy="40380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High Value Use-Case Identification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406F3F-60C5-49D4-1121-3C85CAC0DFE6}"/>
              </a:ext>
            </a:extLst>
          </p:cNvPr>
          <p:cNvSpPr/>
          <p:nvPr/>
        </p:nvSpPr>
        <p:spPr>
          <a:xfrm>
            <a:off x="943947" y="1045027"/>
            <a:ext cx="10773039" cy="5645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6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6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Identification of the High-Value Use-Case Areas: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Customer-Focused</a:t>
            </a: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 use-cases, based on </a:t>
            </a:r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High-Cost of Services &amp; Processes</a:t>
            </a:r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Associate-Focused</a:t>
            </a: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 use-cases, based on </a:t>
            </a:r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Frequently Performed Tasks </a:t>
            </a: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of </a:t>
            </a:r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High-Income </a:t>
            </a: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Associates</a:t>
            </a:r>
            <a:br>
              <a:rPr lang="en-GB" sz="1400" dirty="0">
                <a:solidFill>
                  <a:schemeClr val="accent6">
                    <a:lumMod val="50000"/>
                  </a:schemeClr>
                </a:solidFill>
              </a:rPr>
            </a:b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92349E5A-0957-FA83-CFB7-08FD57F0C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787590"/>
              </p:ext>
            </p:extLst>
          </p:nvPr>
        </p:nvGraphicFramePr>
        <p:xfrm>
          <a:off x="1284654" y="2611801"/>
          <a:ext cx="9963399" cy="3322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6686">
                  <a:extLst>
                    <a:ext uri="{9D8B030D-6E8A-4147-A177-3AD203B41FA5}">
                      <a16:colId xmlns:a16="http://schemas.microsoft.com/office/drawing/2014/main" val="2306383765"/>
                    </a:ext>
                  </a:extLst>
                </a:gridCol>
                <a:gridCol w="4625580">
                  <a:extLst>
                    <a:ext uri="{9D8B030D-6E8A-4147-A177-3AD203B41FA5}">
                      <a16:colId xmlns:a16="http://schemas.microsoft.com/office/drawing/2014/main" val="2492649414"/>
                    </a:ext>
                  </a:extLst>
                </a:gridCol>
                <a:gridCol w="3321133">
                  <a:extLst>
                    <a:ext uri="{9D8B030D-6E8A-4147-A177-3AD203B41FA5}">
                      <a16:colId xmlns:a16="http://schemas.microsoft.com/office/drawing/2014/main" val="573802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Activities &amp; Services To Be Discontinued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 Automation Based Alternatives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90788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Customer to Associate </a:t>
                      </a:r>
                      <a:r>
                        <a:rPr lang="en-GB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Virtual</a:t>
                      </a:r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GB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Chat</a:t>
                      </a:r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Customer to LLM </a:t>
                      </a:r>
                      <a:r>
                        <a:rPr lang="en-GB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Chatbot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5213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Customer  to Associate </a:t>
                      </a:r>
                      <a:r>
                        <a:rPr lang="en-GB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Calls</a:t>
                      </a:r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Customer to LLM </a:t>
                      </a:r>
                      <a:r>
                        <a:rPr lang="en-GB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0810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Call Center Staff &amp; other Associates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Existing and Required </a:t>
                      </a:r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RPA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AI Driven RPA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0903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Customer &amp; Associate </a:t>
                      </a:r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Semantic Analytics </a:t>
                      </a:r>
                      <a:r>
                        <a:rPr lang="en-US" sz="1600" b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Capability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202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Use of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Information Retrieval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8078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IT Associates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IT Test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Unit Test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8957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General IT &amp; Data Science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Boiler-Plate Code Generation </a:t>
                      </a:r>
                      <a:r>
                        <a:rPr lang="en-US" sz="80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(excludes context dependent tasks of high complexity)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417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18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13D-69F9-66EC-2CB0-396A888C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971362" cy="40380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Managing Reputational Risk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406F3F-60C5-49D4-1121-3C85CAC0DFE6}"/>
              </a:ext>
            </a:extLst>
          </p:cNvPr>
          <p:cNvSpPr/>
          <p:nvPr/>
        </p:nvSpPr>
        <p:spPr>
          <a:xfrm>
            <a:off x="943948" y="1045027"/>
            <a:ext cx="10606822" cy="5645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Reputational Risk - Key Goals</a:t>
            </a:r>
            <a:endParaRPr lang="en-GB" sz="1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Ensure &amp; Maintain Customer satisfaction &amp; experience during LLM adoption lifecycle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Proactive Control of potential reputational risks</a:t>
            </a:r>
            <a:endParaRPr lang="en-GB" sz="16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6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Reputational Risk – Lifecycle Management</a:t>
            </a:r>
          </a:p>
          <a:p>
            <a:endParaRPr lang="en-GB" sz="16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High-Quality Dataset Identification</a:t>
            </a:r>
            <a:endParaRPr lang="en-GB" sz="1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Recorded &amp; Written interactions of highly performing associates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(e.g. call transcripts of high-performer Call-Center Staff)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Usage of high quality, official Product &amp; Services Documentation</a:t>
            </a:r>
          </a:p>
          <a:p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Dataset Curation &amp; Augmentation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All Data Artifacts may need to be Curated and Augmented to ensure optimal LLM Model consumption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‘U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se-Case driven’ dataset preparation is preferred to ‘General’ dataset preparation approach</a:t>
            </a:r>
          </a:p>
          <a:p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Impact To Delivery and Execution </a:t>
            </a:r>
            <a:endParaRPr lang="en-GB" sz="1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Lifecycle Management drives Platform Delivery scope &amp;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Lifecycle Management applies to all proposed Use-Cases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410696-1F50-6DA8-D421-087AF9E7D9A6}"/>
              </a:ext>
            </a:extLst>
          </p:cNvPr>
          <p:cNvSpPr/>
          <p:nvPr/>
        </p:nvSpPr>
        <p:spPr>
          <a:xfrm>
            <a:off x="4064214" y="2668707"/>
            <a:ext cx="1467696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2) Aid &amp; Assist</a:t>
            </a:r>
            <a:endParaRPr lang="en-US" sz="1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A3B659-659A-C20B-A2EE-5B28387F4EE2}"/>
              </a:ext>
            </a:extLst>
          </p:cNvPr>
          <p:cNvSpPr/>
          <p:nvPr/>
        </p:nvSpPr>
        <p:spPr>
          <a:xfrm>
            <a:off x="5602070" y="2959428"/>
            <a:ext cx="1467696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3) Validate</a:t>
            </a:r>
            <a:endParaRPr lang="en-US" sz="1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AC6AFE-4D5F-97E9-DDC1-809410A5DCEB}"/>
              </a:ext>
            </a:extLst>
          </p:cNvPr>
          <p:cNvSpPr/>
          <p:nvPr/>
        </p:nvSpPr>
        <p:spPr>
          <a:xfrm>
            <a:off x="7143871" y="3242249"/>
            <a:ext cx="1467696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4) Replace &amp; Monitor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F0765F-84C7-50EE-6CA8-1519A319DCA0}"/>
              </a:ext>
            </a:extLst>
          </p:cNvPr>
          <p:cNvSpPr/>
          <p:nvPr/>
        </p:nvSpPr>
        <p:spPr>
          <a:xfrm>
            <a:off x="8673815" y="3538608"/>
            <a:ext cx="1467696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5) Decommission</a:t>
            </a:r>
            <a:endParaRPr lang="en-US" sz="1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E48412-6EC8-0A40-2D24-94851D546398}"/>
              </a:ext>
            </a:extLst>
          </p:cNvPr>
          <p:cNvSpPr/>
          <p:nvPr/>
        </p:nvSpPr>
        <p:spPr>
          <a:xfrm>
            <a:off x="2546156" y="2379700"/>
            <a:ext cx="1467696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1) Proof of Concept</a:t>
            </a:r>
            <a:endParaRPr lang="en-US" sz="1000" dirty="0"/>
          </a:p>
        </p:txBody>
      </p:sp>
      <p:sp>
        <p:nvSpPr>
          <p:cNvPr id="30" name="Arrow: Bent 29">
            <a:extLst>
              <a:ext uri="{FF2B5EF4-FFF2-40B4-BE49-F238E27FC236}">
                <a16:creationId xmlns:a16="http://schemas.microsoft.com/office/drawing/2014/main" id="{213E8C75-DD8F-E1E2-04A1-1E5F924DA065}"/>
              </a:ext>
            </a:extLst>
          </p:cNvPr>
          <p:cNvSpPr/>
          <p:nvPr/>
        </p:nvSpPr>
        <p:spPr>
          <a:xfrm rot="5400000">
            <a:off x="4352505" y="2131780"/>
            <a:ext cx="221174" cy="79775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Bent 30">
            <a:extLst>
              <a:ext uri="{FF2B5EF4-FFF2-40B4-BE49-F238E27FC236}">
                <a16:creationId xmlns:a16="http://schemas.microsoft.com/office/drawing/2014/main" id="{A315ACD0-3B69-510F-4467-81A346FDF2C1}"/>
              </a:ext>
            </a:extLst>
          </p:cNvPr>
          <p:cNvSpPr/>
          <p:nvPr/>
        </p:nvSpPr>
        <p:spPr>
          <a:xfrm rot="5400000">
            <a:off x="5870563" y="2422501"/>
            <a:ext cx="221174" cy="79775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Arrow: Bent 31">
            <a:extLst>
              <a:ext uri="{FF2B5EF4-FFF2-40B4-BE49-F238E27FC236}">
                <a16:creationId xmlns:a16="http://schemas.microsoft.com/office/drawing/2014/main" id="{5C361EB3-A167-41B1-6F66-275623CCFD3B}"/>
              </a:ext>
            </a:extLst>
          </p:cNvPr>
          <p:cNvSpPr/>
          <p:nvPr/>
        </p:nvSpPr>
        <p:spPr>
          <a:xfrm rot="5400000">
            <a:off x="7410535" y="2705295"/>
            <a:ext cx="221174" cy="79775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Arrow: Bent 32">
            <a:extLst>
              <a:ext uri="{FF2B5EF4-FFF2-40B4-BE49-F238E27FC236}">
                <a16:creationId xmlns:a16="http://schemas.microsoft.com/office/drawing/2014/main" id="{B0BAF900-7BE8-D5CB-95AB-38F3CBB6935B}"/>
              </a:ext>
            </a:extLst>
          </p:cNvPr>
          <p:cNvSpPr/>
          <p:nvPr/>
        </p:nvSpPr>
        <p:spPr>
          <a:xfrm rot="5400000">
            <a:off x="8940467" y="2996016"/>
            <a:ext cx="221174" cy="79775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36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13D-69F9-66EC-2CB0-396A888C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971362" cy="40380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Delivery Lifecycle, Effectiveness &amp; Cost Management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406F3F-60C5-49D4-1121-3C85CAC0DFE6}"/>
              </a:ext>
            </a:extLst>
          </p:cNvPr>
          <p:cNvSpPr/>
          <p:nvPr/>
        </p:nvSpPr>
        <p:spPr>
          <a:xfrm>
            <a:off x="943948" y="1045027"/>
            <a:ext cx="10606822" cy="5645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Lifecycle &amp; Data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Prefer Corporate Cloud vs. PaaS offerings (e.g. AWS vs. Azure’s OpenAI)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Benchmark &amp; Metrics Driven 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Use-Case &amp; Dataset Delivery Lifecycle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Cost-Reduction &amp; Effectiveness </a:t>
            </a:r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GB" sz="2000" u="sng" dirty="0">
                <a:solidFill>
                  <a:schemeClr val="accent6">
                    <a:lumMod val="50000"/>
                  </a:schemeClr>
                </a:solidFill>
              </a:rPr>
              <a:t>Strategy</a:t>
            </a:r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Favour fully Open-Sourced vs. Proprietary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Minimize In-Context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Maximize Fine-Tuning (given proof of effectiveness)</a:t>
            </a:r>
          </a:p>
          <a:p>
            <a:endParaRPr lang="en-GB" sz="20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Cost-Reduction &amp; Effectiveness </a:t>
            </a:r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GB" sz="2000" u="sng" dirty="0">
                <a:solidFill>
                  <a:schemeClr val="accent6">
                    <a:lumMod val="50000"/>
                  </a:schemeClr>
                </a:solidFill>
              </a:rPr>
              <a:t>Implementation Steps</a:t>
            </a:r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SaaS vs. PaaS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Cost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Model Benchmarks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5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6">
                    <a:lumMod val="50000"/>
                  </a:schemeClr>
                </a:solidFill>
              </a:rPr>
              <a:t>Fine Tuning vs. In-Context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Use-Case Effectiveness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>
                    <a:lumMod val="50000"/>
                  </a:schemeClr>
                </a:solidFill>
              </a:rPr>
              <a:t>Cost Implications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Other Remarks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Model Upgrades require effectiveness verification (especially for non-vanilla prompting use-cases)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Model training and Fine-Tuning time may impact performance (e.g. prompts related to recent events)</a:t>
            </a:r>
            <a:br>
              <a:rPr lang="en-GB" sz="1400" dirty="0">
                <a:solidFill>
                  <a:schemeClr val="accent6">
                    <a:lumMod val="50000"/>
                  </a:schemeClr>
                </a:solidFill>
              </a:rPr>
            </a:b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98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13D-69F9-66EC-2CB0-396A888C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583" y="168947"/>
            <a:ext cx="9787117" cy="40380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Large Language Model Platform – Target State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B609E2-7716-9C37-4506-C167899E3499}"/>
              </a:ext>
            </a:extLst>
          </p:cNvPr>
          <p:cNvSpPr/>
          <p:nvPr/>
        </p:nvSpPr>
        <p:spPr>
          <a:xfrm>
            <a:off x="3354503" y="611727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*GPT</a:t>
            </a:r>
          </a:p>
          <a:p>
            <a:pPr algn="ctr"/>
            <a:r>
              <a:rPr lang="en-US" sz="1000" dirty="0"/>
              <a:t>Open AI</a:t>
            </a:r>
          </a:p>
          <a:p>
            <a:pPr algn="ctr"/>
            <a:r>
              <a:rPr lang="en-US" sz="1000" dirty="0"/>
              <a:t>SaaS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AD55BE-7965-28AA-4DFD-066B6BD21A8A}"/>
              </a:ext>
            </a:extLst>
          </p:cNvPr>
          <p:cNvSpPr/>
          <p:nvPr/>
        </p:nvSpPr>
        <p:spPr>
          <a:xfrm>
            <a:off x="4761108" y="611727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Megatron-LM</a:t>
            </a:r>
          </a:p>
          <a:p>
            <a:pPr algn="ctr"/>
            <a:r>
              <a:rPr lang="en-US" sz="1000" dirty="0"/>
              <a:t>Nvidia</a:t>
            </a:r>
          </a:p>
          <a:p>
            <a:pPr algn="ctr"/>
            <a:r>
              <a:rPr lang="en-US" sz="1000" dirty="0"/>
              <a:t>PaaS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F70066-0693-F77C-5D2B-F2C32E5794CC}"/>
              </a:ext>
            </a:extLst>
          </p:cNvPr>
          <p:cNvSpPr/>
          <p:nvPr/>
        </p:nvSpPr>
        <p:spPr>
          <a:xfrm>
            <a:off x="6190927" y="611727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Flan-T5</a:t>
            </a:r>
          </a:p>
          <a:p>
            <a:pPr algn="ctr"/>
            <a:r>
              <a:rPr lang="en-US" sz="1000" dirty="0"/>
              <a:t>Google</a:t>
            </a:r>
          </a:p>
          <a:p>
            <a:pPr algn="ctr"/>
            <a:r>
              <a:rPr lang="en-US" sz="1000" dirty="0"/>
              <a:t>PaaS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BF2107-03AC-306B-E893-BE86A5E2726B}"/>
              </a:ext>
            </a:extLst>
          </p:cNvPr>
          <p:cNvSpPr/>
          <p:nvPr/>
        </p:nvSpPr>
        <p:spPr>
          <a:xfrm>
            <a:off x="7627507" y="611727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All Others</a:t>
            </a:r>
          </a:p>
          <a:p>
            <a:pPr algn="ctr"/>
            <a:r>
              <a:rPr lang="en-US" sz="1000" dirty="0"/>
              <a:t>Various</a:t>
            </a:r>
          </a:p>
          <a:p>
            <a:pPr algn="ctr"/>
            <a:r>
              <a:rPr lang="en-US" sz="1000" dirty="0"/>
              <a:t>PaaS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97E644-BA63-00C7-F061-ED1CC7C82A10}"/>
              </a:ext>
            </a:extLst>
          </p:cNvPr>
          <p:cNvSpPr/>
          <p:nvPr/>
        </p:nvSpPr>
        <p:spPr>
          <a:xfrm>
            <a:off x="661254" y="1948532"/>
            <a:ext cx="1424247" cy="3568931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Model Type </a:t>
            </a:r>
          </a:p>
          <a:p>
            <a:pPr algn="ctr"/>
            <a:endParaRPr lang="en-US" sz="3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800" dirty="0">
                <a:solidFill>
                  <a:schemeClr val="accent6">
                    <a:lumMod val="50000"/>
                  </a:schemeClr>
                </a:solidFill>
              </a:rPr>
              <a:t>(ascending by complexity)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320C5E-0DBD-5D58-96B5-B52E00FC3D1D}"/>
              </a:ext>
            </a:extLst>
          </p:cNvPr>
          <p:cNvSpPr/>
          <p:nvPr/>
        </p:nvSpPr>
        <p:spPr>
          <a:xfrm>
            <a:off x="2801864" y="6118774"/>
            <a:ext cx="622975" cy="575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Models:</a:t>
            </a:r>
          </a:p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Vendor:</a:t>
            </a:r>
          </a:p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Service: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B8B98A-3BBD-DC39-7C8E-3347D5F93F80}"/>
              </a:ext>
            </a:extLst>
          </p:cNvPr>
          <p:cNvSpPr/>
          <p:nvPr/>
        </p:nvSpPr>
        <p:spPr>
          <a:xfrm>
            <a:off x="714787" y="2453543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Out-Of-The Box</a:t>
            </a:r>
          </a:p>
          <a:p>
            <a:pPr algn="ctr"/>
            <a:r>
              <a:rPr lang="en-US" sz="900" dirty="0"/>
              <a:t>(Single Shot)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DF65FE-C2A8-5765-8628-2F75F45A0FEA}"/>
              </a:ext>
            </a:extLst>
          </p:cNvPr>
          <p:cNvSpPr/>
          <p:nvPr/>
        </p:nvSpPr>
        <p:spPr>
          <a:xfrm>
            <a:off x="2876231" y="5794576"/>
            <a:ext cx="6207587" cy="975360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Model Deployments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58CD4D-3FCC-808B-ED0D-E8EC11848BA9}"/>
              </a:ext>
            </a:extLst>
          </p:cNvPr>
          <p:cNvSpPr/>
          <p:nvPr/>
        </p:nvSpPr>
        <p:spPr>
          <a:xfrm>
            <a:off x="714787" y="3237898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Out-Of-The Box</a:t>
            </a:r>
          </a:p>
          <a:p>
            <a:pPr algn="ctr"/>
            <a:r>
              <a:rPr lang="en-US" sz="900" dirty="0"/>
              <a:t>&amp; In-Context Learning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A71B1A-85E6-403C-E6E9-159551C9B365}"/>
              </a:ext>
            </a:extLst>
          </p:cNvPr>
          <p:cNvSpPr/>
          <p:nvPr/>
        </p:nvSpPr>
        <p:spPr>
          <a:xfrm>
            <a:off x="705590" y="4024438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Fine-Tuned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DF7F40-16DB-9595-2E1A-EFBE2CE8937A}"/>
              </a:ext>
            </a:extLst>
          </p:cNvPr>
          <p:cNvSpPr/>
          <p:nvPr/>
        </p:nvSpPr>
        <p:spPr>
          <a:xfrm>
            <a:off x="705590" y="4808539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Fine-Tuned</a:t>
            </a:r>
          </a:p>
          <a:p>
            <a:pPr algn="ctr"/>
            <a:r>
              <a:rPr lang="en-US" sz="900" dirty="0"/>
              <a:t>&amp; In-Context Learning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947A5A-396F-E5DC-FB59-CA488DFFBAD7}"/>
              </a:ext>
            </a:extLst>
          </p:cNvPr>
          <p:cNvSpPr/>
          <p:nvPr/>
        </p:nvSpPr>
        <p:spPr>
          <a:xfrm>
            <a:off x="7631552" y="2990286"/>
            <a:ext cx="1300558" cy="18411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Completion Reusability</a:t>
            </a:r>
          </a:p>
          <a:p>
            <a:pPr algn="ctr"/>
            <a:endParaRPr lang="en-US" sz="1000" dirty="0"/>
          </a:p>
          <a:p>
            <a:pPr algn="ctr"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Menu Options</a:t>
            </a:r>
          </a:p>
          <a:p>
            <a:pPr algn="ctr"/>
            <a:r>
              <a:rPr lang="en-US" sz="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(organically growing)</a:t>
            </a:r>
          </a:p>
          <a:p>
            <a:pPr algn="ctr"/>
            <a:r>
              <a:rPr lang="en-US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Verified Completions</a:t>
            </a:r>
          </a:p>
          <a:p>
            <a:pPr algn="ctr"/>
            <a:r>
              <a:rPr lang="en-US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 Reduction</a:t>
            </a:r>
          </a:p>
          <a:p>
            <a:pPr algn="ctr"/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B7913D-48C3-3E36-912E-D32AAF17E15F}"/>
              </a:ext>
            </a:extLst>
          </p:cNvPr>
          <p:cNvSpPr/>
          <p:nvPr/>
        </p:nvSpPr>
        <p:spPr>
          <a:xfrm>
            <a:off x="6201110" y="2983254"/>
            <a:ext cx="1300558" cy="18411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Query Processing</a:t>
            </a:r>
          </a:p>
          <a:p>
            <a:pPr algn="ctr"/>
            <a:endParaRPr lang="en-US" sz="1000" dirty="0"/>
          </a:p>
          <a:p>
            <a:pPr algn="ctr"/>
            <a:r>
              <a:rPr lang="en-US" sz="800" dirty="0"/>
              <a:t>Reputational Control</a:t>
            </a:r>
          </a:p>
          <a:p>
            <a:pPr algn="ctr"/>
            <a:r>
              <a:rPr lang="en-US" sz="800" dirty="0"/>
              <a:t>Prompt Management</a:t>
            </a:r>
          </a:p>
          <a:p>
            <a:pPr algn="ctr"/>
            <a:r>
              <a:rPr lang="en-US" sz="800" dirty="0"/>
              <a:t>Prompt Optimization</a:t>
            </a:r>
          </a:p>
          <a:p>
            <a:pPr algn="ctr"/>
            <a:r>
              <a:rPr lang="en-US" sz="800" dirty="0"/>
              <a:t>Completion Retry</a:t>
            </a:r>
          </a:p>
          <a:p>
            <a:pPr algn="ctr"/>
            <a:r>
              <a:rPr lang="en-US" sz="800" dirty="0"/>
              <a:t>Query Decomposition</a:t>
            </a:r>
          </a:p>
          <a:p>
            <a:pPr algn="ctr"/>
            <a:r>
              <a:rPr lang="en-US" sz="800" dirty="0"/>
              <a:t>Dynamic Execution</a:t>
            </a:r>
          </a:p>
          <a:p>
            <a:pPr algn="ctr"/>
            <a:r>
              <a:rPr lang="en-US" sz="600" dirty="0"/>
              <a:t>(Agents &amp; Tools)</a:t>
            </a:r>
          </a:p>
          <a:p>
            <a:pPr algn="ctr"/>
            <a:r>
              <a:rPr lang="en-US" sz="800" dirty="0"/>
              <a:t>Functional Chains</a:t>
            </a:r>
          </a:p>
          <a:p>
            <a:pPr algn="ctr"/>
            <a:r>
              <a:rPr lang="en-US" sz="800" dirty="0"/>
              <a:t>Success Criteria </a:t>
            </a:r>
          </a:p>
          <a:p>
            <a:pPr algn="ctr"/>
            <a:r>
              <a:rPr lang="en-US" sz="600" dirty="0"/>
              <a:t>(Temp, Top-k &amp; Top--p)</a:t>
            </a:r>
          </a:p>
          <a:p>
            <a:pPr algn="ctr"/>
            <a:r>
              <a:rPr lang="en-US" sz="800" dirty="0"/>
              <a:t>Unified Model Access</a:t>
            </a:r>
          </a:p>
          <a:p>
            <a:pPr algn="ctr"/>
            <a:r>
              <a:rPr lang="en-US" sz="800" dirty="0"/>
              <a:t>Audit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F59025-6A5D-9501-DDA8-3F17D8D8F769}"/>
              </a:ext>
            </a:extLst>
          </p:cNvPr>
          <p:cNvSpPr/>
          <p:nvPr/>
        </p:nvSpPr>
        <p:spPr>
          <a:xfrm>
            <a:off x="3401497" y="1051516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Vector Datastores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93CEB4B-4651-CC8D-FCA4-10F92501D53E}"/>
              </a:ext>
            </a:extLst>
          </p:cNvPr>
          <p:cNvSpPr/>
          <p:nvPr/>
        </p:nvSpPr>
        <p:spPr>
          <a:xfrm>
            <a:off x="4815450" y="1051516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Document Lake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879941-4DDD-C419-3B9B-89E63857DA73}"/>
              </a:ext>
            </a:extLst>
          </p:cNvPr>
          <p:cNvSpPr/>
          <p:nvPr/>
        </p:nvSpPr>
        <p:spPr>
          <a:xfrm>
            <a:off x="6217954" y="1051516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Lake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FB7ED9-59FC-7187-AB70-A2D4F6B4A275}"/>
              </a:ext>
            </a:extLst>
          </p:cNvPr>
          <p:cNvSpPr/>
          <p:nvPr/>
        </p:nvSpPr>
        <p:spPr>
          <a:xfrm>
            <a:off x="3247866" y="739370"/>
            <a:ext cx="5788966" cy="964811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Corporate Data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62ABC8-8531-8D5B-D9C0-047182070A8C}"/>
              </a:ext>
            </a:extLst>
          </p:cNvPr>
          <p:cNvSpPr/>
          <p:nvPr/>
        </p:nvSpPr>
        <p:spPr>
          <a:xfrm>
            <a:off x="4781022" y="2983255"/>
            <a:ext cx="1300558" cy="184116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Prompt Templating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Composite Prompting</a:t>
            </a:r>
          </a:p>
          <a:p>
            <a:pPr algn="ctr"/>
            <a:r>
              <a:rPr lang="en-US" sz="800" dirty="0"/>
              <a:t>Follow-Up</a:t>
            </a:r>
          </a:p>
          <a:p>
            <a:pPr algn="ctr"/>
            <a:r>
              <a:rPr lang="en-US" sz="800" dirty="0"/>
              <a:t>Knowledge Extraction</a:t>
            </a:r>
          </a:p>
          <a:p>
            <a:pPr algn="ctr"/>
            <a:r>
              <a:rPr lang="en-US" sz="800" dirty="0"/>
              <a:t>Tabular Access</a:t>
            </a:r>
          </a:p>
          <a:p>
            <a:pPr algn="ctr"/>
            <a:r>
              <a:rPr lang="en-US" sz="800" dirty="0"/>
              <a:t>Q&amp;A </a:t>
            </a:r>
          </a:p>
          <a:p>
            <a:pPr algn="ctr"/>
            <a:r>
              <a:rPr lang="en-US" sz="800" dirty="0"/>
              <a:t>Summarization</a:t>
            </a:r>
          </a:p>
          <a:p>
            <a:pPr algn="ctr"/>
            <a:r>
              <a:rPr lang="en-US" sz="800" dirty="0"/>
              <a:t>Text to SQL/Cypher</a:t>
            </a:r>
          </a:p>
          <a:p>
            <a:pPr algn="ctr"/>
            <a:endParaRPr lang="en-US" sz="8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33D5059-7BAF-C5CD-0770-0657F96AD369}"/>
              </a:ext>
            </a:extLst>
          </p:cNvPr>
          <p:cNvSpPr/>
          <p:nvPr/>
        </p:nvSpPr>
        <p:spPr>
          <a:xfrm>
            <a:off x="10219970" y="2070969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Chatbot Agents</a:t>
            </a:r>
            <a:endParaRPr lang="en-US" sz="10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7C0BF4E-EA29-F9BC-DD65-DFA8DAEE00C6}"/>
              </a:ext>
            </a:extLst>
          </p:cNvPr>
          <p:cNvSpPr/>
          <p:nvPr/>
        </p:nvSpPr>
        <p:spPr>
          <a:xfrm>
            <a:off x="10219970" y="2579327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Information</a:t>
            </a:r>
          </a:p>
          <a:p>
            <a:pPr algn="ctr"/>
            <a:r>
              <a:rPr lang="en-US" sz="1000" b="1" dirty="0"/>
              <a:t>Retrieval (IR) *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21711EE-E449-103E-D4B5-9728EAF47F5D}"/>
              </a:ext>
            </a:extLst>
          </p:cNvPr>
          <p:cNvSpPr/>
          <p:nvPr/>
        </p:nvSpPr>
        <p:spPr>
          <a:xfrm>
            <a:off x="7629701" y="104901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Stores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795B04B-EB7E-F292-1A49-84C4622A2AE3}"/>
              </a:ext>
            </a:extLst>
          </p:cNvPr>
          <p:cNvSpPr/>
          <p:nvPr/>
        </p:nvSpPr>
        <p:spPr>
          <a:xfrm>
            <a:off x="10208726" y="3094749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Semantic Analytics*</a:t>
            </a:r>
          </a:p>
          <a:p>
            <a:pPr algn="ctr"/>
            <a:r>
              <a:rPr lang="en-US" sz="800" dirty="0"/>
              <a:t>(BI &amp; Analytics)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E7F3095-A1A4-0EE6-3735-B4DA66E7564C}"/>
              </a:ext>
            </a:extLst>
          </p:cNvPr>
          <p:cNvSpPr/>
          <p:nvPr/>
        </p:nvSpPr>
        <p:spPr>
          <a:xfrm>
            <a:off x="10037788" y="1745900"/>
            <a:ext cx="1533524" cy="1867033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Customer UI Services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9A3C3F9-AE75-655F-86D5-B3EF8834DCB6}"/>
              </a:ext>
            </a:extLst>
          </p:cNvPr>
          <p:cNvSpPr/>
          <p:nvPr/>
        </p:nvSpPr>
        <p:spPr>
          <a:xfrm>
            <a:off x="10217697" y="3989877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Dataset Creation</a:t>
            </a:r>
          </a:p>
          <a:p>
            <a:pPr algn="ctr"/>
            <a:r>
              <a:rPr lang="en-US" sz="800" dirty="0"/>
              <a:t>(for Fine Tuning)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4C40511-C36B-E0B9-365D-897FCF62261D}"/>
              </a:ext>
            </a:extLst>
          </p:cNvPr>
          <p:cNvSpPr/>
          <p:nvPr/>
        </p:nvSpPr>
        <p:spPr>
          <a:xfrm>
            <a:off x="10217697" y="4505379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Prompt Creation</a:t>
            </a:r>
          </a:p>
          <a:p>
            <a:pPr algn="ctr"/>
            <a:r>
              <a:rPr lang="en-US" sz="800" dirty="0"/>
              <a:t>(IR, Q&amp;A, Chatbots)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2988744-9AB3-3C84-74AD-A20299D2E9D4}"/>
              </a:ext>
            </a:extLst>
          </p:cNvPr>
          <p:cNvSpPr/>
          <p:nvPr/>
        </p:nvSpPr>
        <p:spPr>
          <a:xfrm>
            <a:off x="10218329" y="5013657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Semantic Analytics</a:t>
            </a:r>
          </a:p>
          <a:p>
            <a:pPr algn="ctr"/>
            <a:r>
              <a:rPr lang="en-US" sz="800" dirty="0"/>
              <a:t>(BI &amp; Analytics)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ACC026F-4F1E-B711-9C8E-32186451DD7B}"/>
              </a:ext>
            </a:extLst>
          </p:cNvPr>
          <p:cNvSpPr/>
          <p:nvPr/>
        </p:nvSpPr>
        <p:spPr>
          <a:xfrm>
            <a:off x="10047308" y="3665020"/>
            <a:ext cx="1533524" cy="1867033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Associate UI Services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656F179-5669-D207-C178-0AFBC8C29458}"/>
              </a:ext>
            </a:extLst>
          </p:cNvPr>
          <p:cNvSpPr/>
          <p:nvPr/>
        </p:nvSpPr>
        <p:spPr>
          <a:xfrm>
            <a:off x="3318369" y="2983254"/>
            <a:ext cx="1300558" cy="18411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Dataset Services</a:t>
            </a:r>
          </a:p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800" dirty="0"/>
              <a:t>Define Subject Domains</a:t>
            </a:r>
          </a:p>
          <a:p>
            <a:pPr algn="ctr"/>
            <a:r>
              <a:rPr lang="en-US" sz="800" dirty="0"/>
              <a:t>Conform Documents</a:t>
            </a:r>
          </a:p>
          <a:p>
            <a:pPr algn="ctr"/>
            <a:r>
              <a:rPr lang="en-US" sz="800" dirty="0"/>
              <a:t>Document Indexing</a:t>
            </a:r>
          </a:p>
          <a:p>
            <a:pPr algn="ctr"/>
            <a:r>
              <a:rPr lang="en-US" sz="800" dirty="0"/>
              <a:t>Knowledge Base</a:t>
            </a:r>
          </a:p>
          <a:p>
            <a:pPr algn="ctr"/>
            <a:r>
              <a:rPr lang="en-US" sz="800" dirty="0"/>
              <a:t>Similarity Search</a:t>
            </a:r>
          </a:p>
          <a:p>
            <a:pPr algn="ctr"/>
            <a:r>
              <a:rPr lang="en-US" sz="800" dirty="0"/>
              <a:t>Embeddings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8E8F177-71F5-CAEC-C875-6DE829C49311}"/>
              </a:ext>
            </a:extLst>
          </p:cNvPr>
          <p:cNvSpPr/>
          <p:nvPr/>
        </p:nvSpPr>
        <p:spPr>
          <a:xfrm>
            <a:off x="3231022" y="2496205"/>
            <a:ext cx="5788966" cy="2517452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Core Platform Services</a:t>
            </a:r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79EC093D-7189-F6D7-DA27-AEDBEEC18363}"/>
              </a:ext>
            </a:extLst>
          </p:cNvPr>
          <p:cNvSpPr/>
          <p:nvPr/>
        </p:nvSpPr>
        <p:spPr>
          <a:xfrm>
            <a:off x="5930260" y="1793632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Up-Down 46">
            <a:extLst>
              <a:ext uri="{FF2B5EF4-FFF2-40B4-BE49-F238E27FC236}">
                <a16:creationId xmlns:a16="http://schemas.microsoft.com/office/drawing/2014/main" id="{3BC41364-D6B6-2018-B243-FC885B460D52}"/>
              </a:ext>
            </a:extLst>
          </p:cNvPr>
          <p:cNvSpPr/>
          <p:nvPr/>
        </p:nvSpPr>
        <p:spPr>
          <a:xfrm rot="16200000">
            <a:off x="2334854" y="3420296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95DEE01B-8289-8D87-CA63-46D50A6A8889}"/>
              </a:ext>
            </a:extLst>
          </p:cNvPr>
          <p:cNvSpPr/>
          <p:nvPr/>
        </p:nvSpPr>
        <p:spPr>
          <a:xfrm rot="10800000">
            <a:off x="5896828" y="5067246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Up-Down 48">
            <a:extLst>
              <a:ext uri="{FF2B5EF4-FFF2-40B4-BE49-F238E27FC236}">
                <a16:creationId xmlns:a16="http://schemas.microsoft.com/office/drawing/2014/main" id="{FA79DDA9-292C-A123-B313-55668434BB6D}"/>
              </a:ext>
            </a:extLst>
          </p:cNvPr>
          <p:cNvSpPr/>
          <p:nvPr/>
        </p:nvSpPr>
        <p:spPr>
          <a:xfrm rot="5400000">
            <a:off x="9215807" y="3369490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E8782DF-77FE-5417-D5A7-2CAE8E6DE2DC}"/>
              </a:ext>
            </a:extLst>
          </p:cNvPr>
          <p:cNvSpPr/>
          <p:nvPr/>
        </p:nvSpPr>
        <p:spPr>
          <a:xfrm>
            <a:off x="9974872" y="1657352"/>
            <a:ext cx="1657350" cy="3943350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1E7A8E7-928F-7C8D-5D2B-4C8B616CB105}"/>
              </a:ext>
            </a:extLst>
          </p:cNvPr>
          <p:cNvSpPr/>
          <p:nvPr/>
        </p:nvSpPr>
        <p:spPr>
          <a:xfrm>
            <a:off x="559778" y="674677"/>
            <a:ext cx="11164763" cy="6134965"/>
          </a:xfrm>
          <a:prstGeom prst="roundRect">
            <a:avLst/>
          </a:prstGeom>
          <a:noFill/>
          <a:effectLst>
            <a:softEdge rad="0"/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7F4413-4D18-C4BB-28F3-B360DDD5BF5D}"/>
              </a:ext>
            </a:extLst>
          </p:cNvPr>
          <p:cNvSpPr/>
          <p:nvPr/>
        </p:nvSpPr>
        <p:spPr>
          <a:xfrm>
            <a:off x="11132127" y="6609753"/>
            <a:ext cx="1111161" cy="2431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6">
                    <a:lumMod val="50000"/>
                  </a:schemeClr>
                </a:solidFill>
              </a:rPr>
              <a:t>* - No Direct User Access</a:t>
            </a:r>
          </a:p>
        </p:txBody>
      </p:sp>
    </p:spTree>
    <p:extLst>
      <p:ext uri="{BB962C8B-B14F-4D97-AF65-F5344CB8AC3E}">
        <p14:creationId xmlns:p14="http://schemas.microsoft.com/office/powerpoint/2010/main" val="279413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13D-69F9-66EC-2CB0-396A888C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427" y="365126"/>
            <a:ext cx="10515600" cy="40380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Phased Delivery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71F213-D888-4DFA-DC00-9CD939836A0D}"/>
              </a:ext>
            </a:extLst>
          </p:cNvPr>
          <p:cNvSpPr/>
          <p:nvPr/>
        </p:nvSpPr>
        <p:spPr>
          <a:xfrm>
            <a:off x="708811" y="1039046"/>
            <a:ext cx="3647536" cy="55256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5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MVP 1</a:t>
            </a:r>
          </a:p>
          <a:p>
            <a:endParaRPr lang="en-GB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Model Families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Service Based Models only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*GPT Family – OpenAI</a:t>
            </a:r>
          </a:p>
          <a:p>
            <a:pPr lvl="2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lvl="2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Model Utilization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Out-Of-The-Box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Out-Of-The-Box , In-Context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UI &amp; Desktop 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Desktop based tools only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Core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Query Processing (core)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Prompt Templating (core)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Data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None</a:t>
            </a:r>
          </a:p>
          <a:p>
            <a:pPr lvl="1"/>
            <a:endParaRPr lang="en-GB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BDF96C-F500-F585-774D-97D212D188F6}"/>
              </a:ext>
            </a:extLst>
          </p:cNvPr>
          <p:cNvSpPr/>
          <p:nvPr/>
        </p:nvSpPr>
        <p:spPr>
          <a:xfrm>
            <a:off x="4432556" y="1039046"/>
            <a:ext cx="3538252" cy="55256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5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MVP 2</a:t>
            </a:r>
          </a:p>
          <a:p>
            <a:endParaRPr lang="en-GB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Model Families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Research based adoption of most effective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Focus on AWS PaaS offerings</a:t>
            </a: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Model Utilization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All Model Utilization Types</a:t>
            </a: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UI &amp; Desktop 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Chatbot Agents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Integrations with Existing UI Estate</a:t>
            </a: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Core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Semantic Analytics (core)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Query Processing (medium)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Prompt Templating (advanced)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Data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Document Lake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Vector Database (core)</a:t>
            </a: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GB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01730-58B0-8A63-70A3-4715BB3CE809}"/>
              </a:ext>
            </a:extLst>
          </p:cNvPr>
          <p:cNvSpPr/>
          <p:nvPr/>
        </p:nvSpPr>
        <p:spPr>
          <a:xfrm>
            <a:off x="8055644" y="1048670"/>
            <a:ext cx="3538252" cy="55256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5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MVP N</a:t>
            </a:r>
          </a:p>
          <a:p>
            <a:endParaRPr lang="en-GB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Model Families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All Model Families</a:t>
            </a: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Model Utilization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All Model Utilization Types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UI &amp; Desktop 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Information Retrieval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Core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Semantic Analytics (advanced)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Query Processing (advanced)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Prompt Templating (advanced)</a:t>
            </a:r>
          </a:p>
          <a:p>
            <a:pPr lvl="1"/>
            <a:endParaRPr lang="en-GB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Data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Document Lake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Vector Database (advanced)</a:t>
            </a: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834187-D285-3628-1829-42171858B594}"/>
              </a:ext>
            </a:extLst>
          </p:cNvPr>
          <p:cNvCxnSpPr>
            <a:cxnSpLocks/>
          </p:cNvCxnSpPr>
          <p:nvPr/>
        </p:nvCxnSpPr>
        <p:spPr>
          <a:xfrm>
            <a:off x="819511" y="3594337"/>
            <a:ext cx="3459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36B476-EB2E-74CB-5698-A6F1440965B0}"/>
              </a:ext>
            </a:extLst>
          </p:cNvPr>
          <p:cNvCxnSpPr>
            <a:cxnSpLocks/>
          </p:cNvCxnSpPr>
          <p:nvPr/>
        </p:nvCxnSpPr>
        <p:spPr>
          <a:xfrm>
            <a:off x="4525996" y="3594337"/>
            <a:ext cx="33758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C69AB4-C685-3419-949E-4B882303D28A}"/>
              </a:ext>
            </a:extLst>
          </p:cNvPr>
          <p:cNvCxnSpPr>
            <a:cxnSpLocks/>
          </p:cNvCxnSpPr>
          <p:nvPr/>
        </p:nvCxnSpPr>
        <p:spPr>
          <a:xfrm>
            <a:off x="8160591" y="3600094"/>
            <a:ext cx="33470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02514E8-38F7-770D-E94A-5D7DF227A855}"/>
              </a:ext>
            </a:extLst>
          </p:cNvPr>
          <p:cNvCxnSpPr>
            <a:cxnSpLocks/>
          </p:cNvCxnSpPr>
          <p:nvPr/>
        </p:nvCxnSpPr>
        <p:spPr>
          <a:xfrm>
            <a:off x="790764" y="2659814"/>
            <a:ext cx="3459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D7036E-8F0E-0DD3-2D6C-28A6E40E11FD}"/>
              </a:ext>
            </a:extLst>
          </p:cNvPr>
          <p:cNvCxnSpPr>
            <a:cxnSpLocks/>
          </p:cNvCxnSpPr>
          <p:nvPr/>
        </p:nvCxnSpPr>
        <p:spPr>
          <a:xfrm>
            <a:off x="4497249" y="2659814"/>
            <a:ext cx="33758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B6FA04-5697-38F8-CB21-79382D54DB9E}"/>
              </a:ext>
            </a:extLst>
          </p:cNvPr>
          <p:cNvCxnSpPr>
            <a:cxnSpLocks/>
          </p:cNvCxnSpPr>
          <p:nvPr/>
        </p:nvCxnSpPr>
        <p:spPr>
          <a:xfrm>
            <a:off x="8131844" y="2665571"/>
            <a:ext cx="33470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0C390B-6873-59B7-3DFE-6666FBDB91E6}"/>
              </a:ext>
            </a:extLst>
          </p:cNvPr>
          <p:cNvCxnSpPr>
            <a:cxnSpLocks/>
          </p:cNvCxnSpPr>
          <p:nvPr/>
        </p:nvCxnSpPr>
        <p:spPr>
          <a:xfrm>
            <a:off x="790764" y="4566245"/>
            <a:ext cx="3459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A3A5208-92F5-679C-E1B7-7F72DC0018EE}"/>
              </a:ext>
            </a:extLst>
          </p:cNvPr>
          <p:cNvCxnSpPr>
            <a:cxnSpLocks/>
          </p:cNvCxnSpPr>
          <p:nvPr/>
        </p:nvCxnSpPr>
        <p:spPr>
          <a:xfrm>
            <a:off x="4497249" y="4566245"/>
            <a:ext cx="33758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FF712D4-8C28-82C2-9478-1BE85FFF841A}"/>
              </a:ext>
            </a:extLst>
          </p:cNvPr>
          <p:cNvCxnSpPr>
            <a:cxnSpLocks/>
          </p:cNvCxnSpPr>
          <p:nvPr/>
        </p:nvCxnSpPr>
        <p:spPr>
          <a:xfrm>
            <a:off x="8131844" y="4572002"/>
            <a:ext cx="33470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C650884-1B71-AD15-1D29-321E6D32082D}"/>
              </a:ext>
            </a:extLst>
          </p:cNvPr>
          <p:cNvCxnSpPr>
            <a:cxnSpLocks/>
          </p:cNvCxnSpPr>
          <p:nvPr/>
        </p:nvCxnSpPr>
        <p:spPr>
          <a:xfrm>
            <a:off x="799382" y="5704919"/>
            <a:ext cx="3459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1C44B5-CEAE-A080-5D3B-2A13FF8AA73E}"/>
              </a:ext>
            </a:extLst>
          </p:cNvPr>
          <p:cNvCxnSpPr>
            <a:cxnSpLocks/>
          </p:cNvCxnSpPr>
          <p:nvPr/>
        </p:nvCxnSpPr>
        <p:spPr>
          <a:xfrm>
            <a:off x="4505867" y="5704919"/>
            <a:ext cx="33758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A7E200B-289F-DE72-DD6F-74FE46262BD0}"/>
              </a:ext>
            </a:extLst>
          </p:cNvPr>
          <p:cNvCxnSpPr>
            <a:cxnSpLocks/>
          </p:cNvCxnSpPr>
          <p:nvPr/>
        </p:nvCxnSpPr>
        <p:spPr>
          <a:xfrm>
            <a:off x="8140462" y="5710676"/>
            <a:ext cx="33470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F611C2-B961-CAC4-57E8-F0040B6C6019}"/>
              </a:ext>
            </a:extLst>
          </p:cNvPr>
          <p:cNvCxnSpPr>
            <a:cxnSpLocks/>
          </p:cNvCxnSpPr>
          <p:nvPr/>
        </p:nvCxnSpPr>
        <p:spPr>
          <a:xfrm>
            <a:off x="831024" y="1647651"/>
            <a:ext cx="3459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A6DE472-EC27-5808-5963-421A89E6B3D9}"/>
              </a:ext>
            </a:extLst>
          </p:cNvPr>
          <p:cNvCxnSpPr>
            <a:cxnSpLocks/>
          </p:cNvCxnSpPr>
          <p:nvPr/>
        </p:nvCxnSpPr>
        <p:spPr>
          <a:xfrm>
            <a:off x="4537509" y="1647651"/>
            <a:ext cx="33758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0D5B4C-F3C1-14E2-3C68-718B8731420B}"/>
              </a:ext>
            </a:extLst>
          </p:cNvPr>
          <p:cNvCxnSpPr>
            <a:cxnSpLocks/>
          </p:cNvCxnSpPr>
          <p:nvPr/>
        </p:nvCxnSpPr>
        <p:spPr>
          <a:xfrm>
            <a:off x="8172104" y="1653408"/>
            <a:ext cx="33470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39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13D-69F9-66EC-2CB0-396A888C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427" y="365126"/>
            <a:ext cx="10515600" cy="40380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Tools, Frameworks &amp;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Sstandards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01730-58B0-8A63-70A3-4715BB3CE809}"/>
              </a:ext>
            </a:extLst>
          </p:cNvPr>
          <p:cNvSpPr/>
          <p:nvPr/>
        </p:nvSpPr>
        <p:spPr>
          <a:xfrm>
            <a:off x="648427" y="1048670"/>
            <a:ext cx="10945469" cy="55256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5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LLM Development Framework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LangChain</a:t>
            </a: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  <a:hlinkClick r:id="rId2"/>
              </a:rPr>
              <a:t>link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lvl="1"/>
            <a:endParaRPr lang="en-GB" sz="14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Prompt Design Standard To Follow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Public School of Prompts (P3)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  <a:hlinkClick r:id="rId3"/>
              </a:rPr>
              <a:t>link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Prompt &amp; Dataset Management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(Templating Creation, Curation, Augmentation)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PromptSource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  <a:hlinkClick r:id="rId4"/>
              </a:rPr>
              <a:t>link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LLM Usage Monitoring &amp; Tracking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(Cost, Activity, Request Monitoring and User Tracking)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Helicone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  <a:hlinkClick r:id="rId5"/>
              </a:rPr>
              <a:t>link</a:t>
            </a: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Prompt (Registry, Versioning &amp; History)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PromtLayer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  <a:hlinkClick r:id="rId6"/>
              </a:rPr>
              <a:t>link</a:t>
            </a: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UI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Streamlit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  <a:hlinkClick r:id="rId7"/>
              </a:rPr>
              <a:t>link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Any other existing UI component or service</a:t>
            </a: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Chat UI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Streamlit Chat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  <a:hlinkClick r:id="rId8"/>
              </a:rPr>
              <a:t>link</a:t>
            </a: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Any other existing UI component or service</a:t>
            </a:r>
          </a:p>
          <a:p>
            <a:pPr lvl="1"/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50000"/>
                  </a:schemeClr>
                </a:solidFill>
              </a:rPr>
              <a:t>Dataset and Document Visual Exploration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AtlasDB </a:t>
            </a:r>
            <a:r>
              <a:rPr lang="en-GB" sz="1400" dirty="0">
                <a:solidFill>
                  <a:schemeClr val="accent6">
                    <a:lumMod val="50000"/>
                  </a:schemeClr>
                </a:solidFill>
                <a:hlinkClick r:id="rId9"/>
              </a:rPr>
              <a:t>link</a:t>
            </a:r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en-GB" sz="14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endParaRPr lang="en-GB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24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13D-69F9-66EC-2CB0-396A888C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583" y="168947"/>
            <a:ext cx="9787117" cy="40380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MVP 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B609E2-7716-9C37-4506-C167899E3499}"/>
              </a:ext>
            </a:extLst>
          </p:cNvPr>
          <p:cNvSpPr/>
          <p:nvPr/>
        </p:nvSpPr>
        <p:spPr>
          <a:xfrm>
            <a:off x="3354503" y="611727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*GPT</a:t>
            </a:r>
          </a:p>
          <a:p>
            <a:pPr algn="ctr"/>
            <a:r>
              <a:rPr lang="en-US" sz="1000" dirty="0"/>
              <a:t>Open AI</a:t>
            </a:r>
          </a:p>
          <a:p>
            <a:pPr algn="ctr"/>
            <a:r>
              <a:rPr lang="en-US" sz="1000" dirty="0"/>
              <a:t>SaaS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AD55BE-7965-28AA-4DFD-066B6BD21A8A}"/>
              </a:ext>
            </a:extLst>
          </p:cNvPr>
          <p:cNvSpPr/>
          <p:nvPr/>
        </p:nvSpPr>
        <p:spPr>
          <a:xfrm>
            <a:off x="4761108" y="6117270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Megatron-LM</a:t>
            </a:r>
          </a:p>
          <a:p>
            <a:pPr algn="ctr"/>
            <a:r>
              <a:rPr lang="en-US" sz="1000" dirty="0"/>
              <a:t>Nvidia</a:t>
            </a:r>
          </a:p>
          <a:p>
            <a:pPr algn="ctr"/>
            <a:r>
              <a:rPr lang="en-US" sz="1000" dirty="0"/>
              <a:t>PaaS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F70066-0693-F77C-5D2B-F2C32E5794CC}"/>
              </a:ext>
            </a:extLst>
          </p:cNvPr>
          <p:cNvSpPr/>
          <p:nvPr/>
        </p:nvSpPr>
        <p:spPr>
          <a:xfrm>
            <a:off x="6190927" y="6117270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Flan-T5</a:t>
            </a:r>
          </a:p>
          <a:p>
            <a:pPr algn="ctr"/>
            <a:r>
              <a:rPr lang="en-US" sz="1000" dirty="0"/>
              <a:t>Google</a:t>
            </a:r>
          </a:p>
          <a:p>
            <a:pPr algn="ctr"/>
            <a:r>
              <a:rPr lang="en-US" sz="1000" dirty="0"/>
              <a:t>PaaS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BF2107-03AC-306B-E893-BE86A5E2726B}"/>
              </a:ext>
            </a:extLst>
          </p:cNvPr>
          <p:cNvSpPr/>
          <p:nvPr/>
        </p:nvSpPr>
        <p:spPr>
          <a:xfrm>
            <a:off x="7627507" y="6117270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All Others</a:t>
            </a:r>
          </a:p>
          <a:p>
            <a:pPr algn="ctr"/>
            <a:r>
              <a:rPr lang="en-US" sz="1000" dirty="0"/>
              <a:t>Various</a:t>
            </a:r>
          </a:p>
          <a:p>
            <a:pPr algn="ctr"/>
            <a:r>
              <a:rPr lang="en-US" sz="1000" dirty="0"/>
              <a:t>PaaS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97E644-BA63-00C7-F061-ED1CC7C82A10}"/>
              </a:ext>
            </a:extLst>
          </p:cNvPr>
          <p:cNvSpPr/>
          <p:nvPr/>
        </p:nvSpPr>
        <p:spPr>
          <a:xfrm>
            <a:off x="661254" y="1948532"/>
            <a:ext cx="1424247" cy="3568931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Model Type </a:t>
            </a:r>
          </a:p>
          <a:p>
            <a:pPr algn="ctr"/>
            <a:endParaRPr lang="en-US" sz="3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800" dirty="0">
                <a:solidFill>
                  <a:schemeClr val="accent6">
                    <a:lumMod val="50000"/>
                  </a:schemeClr>
                </a:solidFill>
              </a:rPr>
              <a:t>(ascending by complexity)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320C5E-0DBD-5D58-96B5-B52E00FC3D1D}"/>
              </a:ext>
            </a:extLst>
          </p:cNvPr>
          <p:cNvSpPr/>
          <p:nvPr/>
        </p:nvSpPr>
        <p:spPr>
          <a:xfrm>
            <a:off x="2801864" y="6118774"/>
            <a:ext cx="622975" cy="575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Models:</a:t>
            </a:r>
          </a:p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Vendor:</a:t>
            </a:r>
          </a:p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Service: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B8B98A-3BBD-DC39-7C8E-3347D5F93F80}"/>
              </a:ext>
            </a:extLst>
          </p:cNvPr>
          <p:cNvSpPr/>
          <p:nvPr/>
        </p:nvSpPr>
        <p:spPr>
          <a:xfrm>
            <a:off x="714787" y="2453543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Out-Of-The Box</a:t>
            </a:r>
          </a:p>
          <a:p>
            <a:pPr algn="ctr"/>
            <a:r>
              <a:rPr lang="en-US" sz="900" dirty="0"/>
              <a:t>(Single Shot)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DF65FE-C2A8-5765-8628-2F75F45A0FEA}"/>
              </a:ext>
            </a:extLst>
          </p:cNvPr>
          <p:cNvSpPr/>
          <p:nvPr/>
        </p:nvSpPr>
        <p:spPr>
          <a:xfrm>
            <a:off x="2876231" y="5794576"/>
            <a:ext cx="6207587" cy="975360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Model Deployments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58CD4D-3FCC-808B-ED0D-E8EC11848BA9}"/>
              </a:ext>
            </a:extLst>
          </p:cNvPr>
          <p:cNvSpPr/>
          <p:nvPr/>
        </p:nvSpPr>
        <p:spPr>
          <a:xfrm>
            <a:off x="714787" y="3237898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Out-Of-The Box</a:t>
            </a:r>
          </a:p>
          <a:p>
            <a:pPr algn="ctr"/>
            <a:r>
              <a:rPr lang="en-US" sz="900" dirty="0"/>
              <a:t>&amp; In-Context Learning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A71B1A-85E6-403C-E6E9-159551C9B365}"/>
              </a:ext>
            </a:extLst>
          </p:cNvPr>
          <p:cNvSpPr/>
          <p:nvPr/>
        </p:nvSpPr>
        <p:spPr>
          <a:xfrm>
            <a:off x="705590" y="4024438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Fine-Tuned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DF7F40-16DB-9595-2E1A-EFBE2CE8937A}"/>
              </a:ext>
            </a:extLst>
          </p:cNvPr>
          <p:cNvSpPr/>
          <p:nvPr/>
        </p:nvSpPr>
        <p:spPr>
          <a:xfrm>
            <a:off x="705590" y="4808539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Fine-Tuned</a:t>
            </a:r>
          </a:p>
          <a:p>
            <a:pPr algn="ctr"/>
            <a:r>
              <a:rPr lang="en-US" sz="900" dirty="0"/>
              <a:t>&amp; In-Context Learning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947A5A-396F-E5DC-FB59-CA488DFFBAD7}"/>
              </a:ext>
            </a:extLst>
          </p:cNvPr>
          <p:cNvSpPr/>
          <p:nvPr/>
        </p:nvSpPr>
        <p:spPr>
          <a:xfrm>
            <a:off x="7631552" y="2990286"/>
            <a:ext cx="1300558" cy="1841163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Completion Reusability</a:t>
            </a:r>
          </a:p>
          <a:p>
            <a:pPr algn="ctr"/>
            <a:endParaRPr lang="en-US" sz="1000" dirty="0"/>
          </a:p>
          <a:p>
            <a:pPr algn="ctr"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Menu Options</a:t>
            </a:r>
          </a:p>
          <a:p>
            <a:pPr algn="ctr"/>
            <a:r>
              <a:rPr lang="en-US" sz="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(organically growing)</a:t>
            </a:r>
          </a:p>
          <a:p>
            <a:pPr algn="ctr"/>
            <a:r>
              <a:rPr lang="en-US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Verified Completions</a:t>
            </a:r>
          </a:p>
          <a:p>
            <a:pPr algn="ctr"/>
            <a:r>
              <a:rPr lang="en-US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 Reduction</a:t>
            </a:r>
          </a:p>
          <a:p>
            <a:pPr algn="ctr"/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B7913D-48C3-3E36-912E-D32AAF17E15F}"/>
              </a:ext>
            </a:extLst>
          </p:cNvPr>
          <p:cNvSpPr/>
          <p:nvPr/>
        </p:nvSpPr>
        <p:spPr>
          <a:xfrm>
            <a:off x="6201110" y="2983254"/>
            <a:ext cx="1300558" cy="18411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Query Processing</a:t>
            </a:r>
          </a:p>
          <a:p>
            <a:pPr algn="ctr"/>
            <a:endParaRPr lang="en-US" sz="1000" dirty="0"/>
          </a:p>
          <a:p>
            <a:pPr algn="ctr"/>
            <a:r>
              <a:rPr lang="en-US" sz="800" dirty="0"/>
              <a:t>Reputational Control</a:t>
            </a:r>
          </a:p>
          <a:p>
            <a:pPr algn="ctr"/>
            <a:r>
              <a:rPr lang="en-US" sz="800" dirty="0"/>
              <a:t>Prompt Management</a:t>
            </a:r>
          </a:p>
          <a:p>
            <a:pPr algn="ctr"/>
            <a:r>
              <a:rPr lang="en-US" sz="800" dirty="0"/>
              <a:t>Prompt Optimization</a:t>
            </a:r>
          </a:p>
          <a:p>
            <a:pPr algn="ctr"/>
            <a:r>
              <a:rPr lang="en-US" sz="800" dirty="0"/>
              <a:t>Completion Retry</a:t>
            </a:r>
          </a:p>
          <a:p>
            <a:pPr algn="ctr"/>
            <a:r>
              <a:rPr lang="en-US" sz="800" dirty="0"/>
              <a:t>Query Decomposition</a:t>
            </a:r>
          </a:p>
          <a:p>
            <a:pPr algn="ctr"/>
            <a:r>
              <a:rPr lang="en-US" sz="800" dirty="0"/>
              <a:t>Dynamic Execution</a:t>
            </a:r>
          </a:p>
          <a:p>
            <a:pPr algn="ctr"/>
            <a:r>
              <a:rPr lang="en-US" sz="600" dirty="0"/>
              <a:t>(Agents &amp; Tools)</a:t>
            </a:r>
          </a:p>
          <a:p>
            <a:pPr algn="ctr"/>
            <a:r>
              <a:rPr lang="en-US" sz="800" dirty="0"/>
              <a:t>Functional Chains</a:t>
            </a:r>
          </a:p>
          <a:p>
            <a:pPr algn="ctr"/>
            <a:r>
              <a:rPr lang="en-US" sz="800" dirty="0"/>
              <a:t>Success Criteria </a:t>
            </a:r>
          </a:p>
          <a:p>
            <a:pPr algn="ctr"/>
            <a:r>
              <a:rPr lang="en-US" sz="600" dirty="0"/>
              <a:t>(Temp, Top-k &amp; Top--p)</a:t>
            </a:r>
          </a:p>
          <a:p>
            <a:pPr algn="ctr"/>
            <a:r>
              <a:rPr lang="en-US" sz="800" dirty="0"/>
              <a:t>Unified Model Access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F59025-6A5D-9501-DDA8-3F17D8D8F769}"/>
              </a:ext>
            </a:extLst>
          </p:cNvPr>
          <p:cNvSpPr/>
          <p:nvPr/>
        </p:nvSpPr>
        <p:spPr>
          <a:xfrm>
            <a:off x="3401497" y="1051516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Vector Datastores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93CEB4B-4651-CC8D-FCA4-10F92501D53E}"/>
              </a:ext>
            </a:extLst>
          </p:cNvPr>
          <p:cNvSpPr/>
          <p:nvPr/>
        </p:nvSpPr>
        <p:spPr>
          <a:xfrm>
            <a:off x="4815450" y="1051516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Document Lake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879941-4DDD-C419-3B9B-89E63857DA73}"/>
              </a:ext>
            </a:extLst>
          </p:cNvPr>
          <p:cNvSpPr/>
          <p:nvPr/>
        </p:nvSpPr>
        <p:spPr>
          <a:xfrm>
            <a:off x="6217954" y="1051516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Lake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FB7ED9-59FC-7187-AB70-A2D4F6B4A275}"/>
              </a:ext>
            </a:extLst>
          </p:cNvPr>
          <p:cNvSpPr/>
          <p:nvPr/>
        </p:nvSpPr>
        <p:spPr>
          <a:xfrm>
            <a:off x="3247866" y="739370"/>
            <a:ext cx="5788966" cy="964811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Corporate Data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62ABC8-8531-8D5B-D9C0-047182070A8C}"/>
              </a:ext>
            </a:extLst>
          </p:cNvPr>
          <p:cNvSpPr/>
          <p:nvPr/>
        </p:nvSpPr>
        <p:spPr>
          <a:xfrm>
            <a:off x="4781022" y="2983255"/>
            <a:ext cx="1300558" cy="184116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Prompt Templating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Composite Prompting</a:t>
            </a:r>
          </a:p>
          <a:p>
            <a:pPr algn="ctr"/>
            <a:r>
              <a:rPr lang="en-US" sz="800" dirty="0"/>
              <a:t>Follow-Up</a:t>
            </a:r>
          </a:p>
          <a:p>
            <a:pPr algn="ctr"/>
            <a:r>
              <a:rPr lang="en-US" sz="800" dirty="0"/>
              <a:t>Knowledge Extraction</a:t>
            </a:r>
          </a:p>
          <a:p>
            <a:pPr algn="ctr"/>
            <a:r>
              <a:rPr lang="en-US" sz="800" dirty="0"/>
              <a:t>Tabular Access</a:t>
            </a:r>
          </a:p>
          <a:p>
            <a:pPr algn="ctr"/>
            <a:r>
              <a:rPr lang="en-US" sz="800" dirty="0"/>
              <a:t>Q&amp;A </a:t>
            </a:r>
          </a:p>
          <a:p>
            <a:pPr algn="ctr"/>
            <a:r>
              <a:rPr lang="en-US" sz="800" dirty="0"/>
              <a:t>Summarization</a:t>
            </a:r>
          </a:p>
          <a:p>
            <a:pPr algn="ctr"/>
            <a:r>
              <a:rPr lang="en-US" sz="800" dirty="0"/>
              <a:t>Text to SQL/Cypher</a:t>
            </a:r>
          </a:p>
          <a:p>
            <a:pPr algn="ctr"/>
            <a:endParaRPr lang="en-US" sz="8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33D5059-7BAF-C5CD-0770-0657F96AD369}"/>
              </a:ext>
            </a:extLst>
          </p:cNvPr>
          <p:cNvSpPr/>
          <p:nvPr/>
        </p:nvSpPr>
        <p:spPr>
          <a:xfrm>
            <a:off x="10219970" y="2070969"/>
            <a:ext cx="1300558" cy="403802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Chatbot Agents</a:t>
            </a:r>
            <a:endParaRPr lang="en-US" sz="10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7C0BF4E-EA29-F9BC-DD65-DFA8DAEE00C6}"/>
              </a:ext>
            </a:extLst>
          </p:cNvPr>
          <p:cNvSpPr/>
          <p:nvPr/>
        </p:nvSpPr>
        <p:spPr>
          <a:xfrm>
            <a:off x="10219970" y="2579327"/>
            <a:ext cx="1300558" cy="403802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Information</a:t>
            </a:r>
          </a:p>
          <a:p>
            <a:pPr algn="ctr"/>
            <a:r>
              <a:rPr lang="en-US" sz="1000" b="1" dirty="0"/>
              <a:t>Retrieval (IR) *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21711EE-E449-103E-D4B5-9728EAF47F5D}"/>
              </a:ext>
            </a:extLst>
          </p:cNvPr>
          <p:cNvSpPr/>
          <p:nvPr/>
        </p:nvSpPr>
        <p:spPr>
          <a:xfrm>
            <a:off x="7629701" y="1049010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Stores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795B04B-EB7E-F292-1A49-84C4622A2AE3}"/>
              </a:ext>
            </a:extLst>
          </p:cNvPr>
          <p:cNvSpPr/>
          <p:nvPr/>
        </p:nvSpPr>
        <p:spPr>
          <a:xfrm>
            <a:off x="10208726" y="3094749"/>
            <a:ext cx="1300558" cy="403802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Semantic Analytics*</a:t>
            </a:r>
          </a:p>
          <a:p>
            <a:pPr algn="ctr"/>
            <a:r>
              <a:rPr lang="en-US" sz="800" dirty="0"/>
              <a:t>(BI &amp; Analytics)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E7F3095-A1A4-0EE6-3735-B4DA66E7564C}"/>
              </a:ext>
            </a:extLst>
          </p:cNvPr>
          <p:cNvSpPr/>
          <p:nvPr/>
        </p:nvSpPr>
        <p:spPr>
          <a:xfrm>
            <a:off x="10037788" y="1745900"/>
            <a:ext cx="1533524" cy="1867033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Customer UI Services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9A3C3F9-AE75-655F-86D5-B3EF8834DCB6}"/>
              </a:ext>
            </a:extLst>
          </p:cNvPr>
          <p:cNvSpPr/>
          <p:nvPr/>
        </p:nvSpPr>
        <p:spPr>
          <a:xfrm>
            <a:off x="10217697" y="3989877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Dataset Creation</a:t>
            </a:r>
          </a:p>
          <a:p>
            <a:pPr algn="ctr"/>
            <a:r>
              <a:rPr lang="en-US" sz="800" dirty="0"/>
              <a:t>(for Fine Tuning)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4C40511-C36B-E0B9-365D-897FCF62261D}"/>
              </a:ext>
            </a:extLst>
          </p:cNvPr>
          <p:cNvSpPr/>
          <p:nvPr/>
        </p:nvSpPr>
        <p:spPr>
          <a:xfrm>
            <a:off x="10217697" y="4505379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Prompt Creation</a:t>
            </a:r>
          </a:p>
          <a:p>
            <a:pPr algn="ctr"/>
            <a:r>
              <a:rPr lang="en-US" sz="800" dirty="0"/>
              <a:t>(IR, Q&amp;A, Chatbots)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2988744-9AB3-3C84-74AD-A20299D2E9D4}"/>
              </a:ext>
            </a:extLst>
          </p:cNvPr>
          <p:cNvSpPr/>
          <p:nvPr/>
        </p:nvSpPr>
        <p:spPr>
          <a:xfrm>
            <a:off x="10218329" y="5013657"/>
            <a:ext cx="1300558" cy="403802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Semantic Analytics</a:t>
            </a:r>
          </a:p>
          <a:p>
            <a:pPr algn="ctr"/>
            <a:r>
              <a:rPr lang="en-US" sz="800" dirty="0"/>
              <a:t>(BI &amp; Analytics)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ACC026F-4F1E-B711-9C8E-32186451DD7B}"/>
              </a:ext>
            </a:extLst>
          </p:cNvPr>
          <p:cNvSpPr/>
          <p:nvPr/>
        </p:nvSpPr>
        <p:spPr>
          <a:xfrm>
            <a:off x="10047308" y="3665020"/>
            <a:ext cx="1533524" cy="1867033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Associate UI Services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656F179-5669-D207-C178-0AFBC8C29458}"/>
              </a:ext>
            </a:extLst>
          </p:cNvPr>
          <p:cNvSpPr/>
          <p:nvPr/>
        </p:nvSpPr>
        <p:spPr>
          <a:xfrm>
            <a:off x="3318369" y="2983254"/>
            <a:ext cx="1300558" cy="1841163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Dataset Services</a:t>
            </a:r>
          </a:p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800" dirty="0"/>
              <a:t>Define Subject Domains</a:t>
            </a:r>
          </a:p>
          <a:p>
            <a:pPr algn="ctr"/>
            <a:r>
              <a:rPr lang="en-US" sz="800" dirty="0"/>
              <a:t>Conform Documents</a:t>
            </a:r>
          </a:p>
          <a:p>
            <a:pPr algn="ctr"/>
            <a:r>
              <a:rPr lang="en-US" sz="800" dirty="0"/>
              <a:t>Document Indexing</a:t>
            </a:r>
          </a:p>
          <a:p>
            <a:pPr algn="ctr"/>
            <a:r>
              <a:rPr lang="en-US" sz="800" dirty="0"/>
              <a:t>Knowledge Base</a:t>
            </a:r>
          </a:p>
          <a:p>
            <a:pPr algn="ctr"/>
            <a:r>
              <a:rPr lang="en-US" sz="800" dirty="0"/>
              <a:t>Similarity Search</a:t>
            </a:r>
          </a:p>
          <a:p>
            <a:pPr algn="ctr"/>
            <a:r>
              <a:rPr lang="en-US" sz="800" dirty="0"/>
              <a:t>Embeddings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8E8F177-71F5-CAEC-C875-6DE829C49311}"/>
              </a:ext>
            </a:extLst>
          </p:cNvPr>
          <p:cNvSpPr/>
          <p:nvPr/>
        </p:nvSpPr>
        <p:spPr>
          <a:xfrm>
            <a:off x="3231022" y="2496205"/>
            <a:ext cx="5788966" cy="2517452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Core Platform Services</a:t>
            </a:r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79EC093D-7189-F6D7-DA27-AEDBEEC18363}"/>
              </a:ext>
            </a:extLst>
          </p:cNvPr>
          <p:cNvSpPr/>
          <p:nvPr/>
        </p:nvSpPr>
        <p:spPr>
          <a:xfrm>
            <a:off x="5930260" y="1793632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Up-Down 46">
            <a:extLst>
              <a:ext uri="{FF2B5EF4-FFF2-40B4-BE49-F238E27FC236}">
                <a16:creationId xmlns:a16="http://schemas.microsoft.com/office/drawing/2014/main" id="{3BC41364-D6B6-2018-B243-FC885B460D52}"/>
              </a:ext>
            </a:extLst>
          </p:cNvPr>
          <p:cNvSpPr/>
          <p:nvPr/>
        </p:nvSpPr>
        <p:spPr>
          <a:xfrm rot="16200000">
            <a:off x="2334854" y="3420296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95DEE01B-8289-8D87-CA63-46D50A6A8889}"/>
              </a:ext>
            </a:extLst>
          </p:cNvPr>
          <p:cNvSpPr/>
          <p:nvPr/>
        </p:nvSpPr>
        <p:spPr>
          <a:xfrm rot="10800000">
            <a:off x="5896828" y="5067246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Up-Down 48">
            <a:extLst>
              <a:ext uri="{FF2B5EF4-FFF2-40B4-BE49-F238E27FC236}">
                <a16:creationId xmlns:a16="http://schemas.microsoft.com/office/drawing/2014/main" id="{FA79DDA9-292C-A123-B313-55668434BB6D}"/>
              </a:ext>
            </a:extLst>
          </p:cNvPr>
          <p:cNvSpPr/>
          <p:nvPr/>
        </p:nvSpPr>
        <p:spPr>
          <a:xfrm rot="5400000">
            <a:off x="9215807" y="3369490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E8782DF-77FE-5417-D5A7-2CAE8E6DE2DC}"/>
              </a:ext>
            </a:extLst>
          </p:cNvPr>
          <p:cNvSpPr/>
          <p:nvPr/>
        </p:nvSpPr>
        <p:spPr>
          <a:xfrm>
            <a:off x="9974872" y="1657352"/>
            <a:ext cx="1657350" cy="3943350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1E7A8E7-928F-7C8D-5D2B-4C8B616CB105}"/>
              </a:ext>
            </a:extLst>
          </p:cNvPr>
          <p:cNvSpPr/>
          <p:nvPr/>
        </p:nvSpPr>
        <p:spPr>
          <a:xfrm>
            <a:off x="559778" y="674677"/>
            <a:ext cx="11164763" cy="6134965"/>
          </a:xfrm>
          <a:prstGeom prst="roundRect">
            <a:avLst/>
          </a:prstGeom>
          <a:noFill/>
          <a:effectLst>
            <a:softEdge rad="0"/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7F4413-4D18-C4BB-28F3-B360DDD5BF5D}"/>
              </a:ext>
            </a:extLst>
          </p:cNvPr>
          <p:cNvSpPr/>
          <p:nvPr/>
        </p:nvSpPr>
        <p:spPr>
          <a:xfrm>
            <a:off x="11409063" y="6609753"/>
            <a:ext cx="834225" cy="2431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6">
                    <a:lumMod val="50000"/>
                  </a:schemeClr>
                </a:solidFill>
              </a:rPr>
              <a:t>* - No Direct Access</a:t>
            </a:r>
          </a:p>
        </p:txBody>
      </p:sp>
    </p:spTree>
    <p:extLst>
      <p:ext uri="{BB962C8B-B14F-4D97-AF65-F5344CB8AC3E}">
        <p14:creationId xmlns:p14="http://schemas.microsoft.com/office/powerpoint/2010/main" val="704405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13D-69F9-66EC-2CB0-396A888C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583" y="168947"/>
            <a:ext cx="9787117" cy="40380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MVP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B609E2-7716-9C37-4506-C167899E3499}"/>
              </a:ext>
            </a:extLst>
          </p:cNvPr>
          <p:cNvSpPr/>
          <p:nvPr/>
        </p:nvSpPr>
        <p:spPr>
          <a:xfrm>
            <a:off x="3354503" y="611727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*GPT</a:t>
            </a:r>
          </a:p>
          <a:p>
            <a:pPr algn="ctr"/>
            <a:r>
              <a:rPr lang="en-US" sz="1000" dirty="0"/>
              <a:t>Open AI</a:t>
            </a:r>
          </a:p>
          <a:p>
            <a:pPr algn="ctr"/>
            <a:r>
              <a:rPr lang="en-US" sz="1000" dirty="0"/>
              <a:t>SaaS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AD55BE-7965-28AA-4DFD-066B6BD21A8A}"/>
              </a:ext>
            </a:extLst>
          </p:cNvPr>
          <p:cNvSpPr/>
          <p:nvPr/>
        </p:nvSpPr>
        <p:spPr>
          <a:xfrm>
            <a:off x="4761108" y="611727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Megatron-LM</a:t>
            </a:r>
          </a:p>
          <a:p>
            <a:pPr algn="ctr"/>
            <a:r>
              <a:rPr lang="en-US" sz="1000" dirty="0"/>
              <a:t>Nvidia</a:t>
            </a:r>
          </a:p>
          <a:p>
            <a:pPr algn="ctr"/>
            <a:r>
              <a:rPr lang="en-US" sz="1000" dirty="0"/>
              <a:t>PaaS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F70066-0693-F77C-5D2B-F2C32E5794CC}"/>
              </a:ext>
            </a:extLst>
          </p:cNvPr>
          <p:cNvSpPr/>
          <p:nvPr/>
        </p:nvSpPr>
        <p:spPr>
          <a:xfrm>
            <a:off x="6190927" y="611727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Flan-T5</a:t>
            </a:r>
          </a:p>
          <a:p>
            <a:pPr algn="ctr"/>
            <a:r>
              <a:rPr lang="en-US" sz="1000" dirty="0"/>
              <a:t>Google</a:t>
            </a:r>
          </a:p>
          <a:p>
            <a:pPr algn="ctr"/>
            <a:r>
              <a:rPr lang="en-US" sz="1000" dirty="0"/>
              <a:t>PaaS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BF2107-03AC-306B-E893-BE86A5E2726B}"/>
              </a:ext>
            </a:extLst>
          </p:cNvPr>
          <p:cNvSpPr/>
          <p:nvPr/>
        </p:nvSpPr>
        <p:spPr>
          <a:xfrm>
            <a:off x="7627507" y="6117270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All Others</a:t>
            </a:r>
          </a:p>
          <a:p>
            <a:pPr algn="ctr"/>
            <a:r>
              <a:rPr lang="en-US" sz="1000" dirty="0"/>
              <a:t>Various</a:t>
            </a:r>
          </a:p>
          <a:p>
            <a:pPr algn="ctr"/>
            <a:r>
              <a:rPr lang="en-US" sz="1000" dirty="0"/>
              <a:t>PaaS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97E644-BA63-00C7-F061-ED1CC7C82A10}"/>
              </a:ext>
            </a:extLst>
          </p:cNvPr>
          <p:cNvSpPr/>
          <p:nvPr/>
        </p:nvSpPr>
        <p:spPr>
          <a:xfrm>
            <a:off x="661254" y="1948532"/>
            <a:ext cx="1424247" cy="3568931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Model Type </a:t>
            </a:r>
          </a:p>
          <a:p>
            <a:pPr algn="ctr"/>
            <a:endParaRPr lang="en-US" sz="3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800" dirty="0">
                <a:solidFill>
                  <a:schemeClr val="accent6">
                    <a:lumMod val="50000"/>
                  </a:schemeClr>
                </a:solidFill>
              </a:rPr>
              <a:t>(ascending by complexity)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320C5E-0DBD-5D58-96B5-B52E00FC3D1D}"/>
              </a:ext>
            </a:extLst>
          </p:cNvPr>
          <p:cNvSpPr/>
          <p:nvPr/>
        </p:nvSpPr>
        <p:spPr>
          <a:xfrm>
            <a:off x="2801864" y="6118774"/>
            <a:ext cx="622975" cy="575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Models:</a:t>
            </a:r>
          </a:p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Vendor:</a:t>
            </a:r>
          </a:p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</a:rPr>
              <a:t>Service: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B8B98A-3BBD-DC39-7C8E-3347D5F93F80}"/>
              </a:ext>
            </a:extLst>
          </p:cNvPr>
          <p:cNvSpPr/>
          <p:nvPr/>
        </p:nvSpPr>
        <p:spPr>
          <a:xfrm>
            <a:off x="714787" y="2453543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Out-Of-The Box</a:t>
            </a:r>
          </a:p>
          <a:p>
            <a:pPr algn="ctr"/>
            <a:r>
              <a:rPr lang="en-US" sz="900" dirty="0"/>
              <a:t>(Single Shot)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DF65FE-C2A8-5765-8628-2F75F45A0FEA}"/>
              </a:ext>
            </a:extLst>
          </p:cNvPr>
          <p:cNvSpPr/>
          <p:nvPr/>
        </p:nvSpPr>
        <p:spPr>
          <a:xfrm>
            <a:off x="2876231" y="5794576"/>
            <a:ext cx="6207587" cy="975360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Model Deployments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58CD4D-3FCC-808B-ED0D-E8EC11848BA9}"/>
              </a:ext>
            </a:extLst>
          </p:cNvPr>
          <p:cNvSpPr/>
          <p:nvPr/>
        </p:nvSpPr>
        <p:spPr>
          <a:xfrm>
            <a:off x="714787" y="3237898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Out-Of-The Box</a:t>
            </a:r>
          </a:p>
          <a:p>
            <a:pPr algn="ctr"/>
            <a:r>
              <a:rPr lang="en-US" sz="900" dirty="0"/>
              <a:t>&amp; In-Context Learning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A71B1A-85E6-403C-E6E9-159551C9B365}"/>
              </a:ext>
            </a:extLst>
          </p:cNvPr>
          <p:cNvSpPr/>
          <p:nvPr/>
        </p:nvSpPr>
        <p:spPr>
          <a:xfrm>
            <a:off x="705590" y="4024438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Fine-Tuned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DF7F40-16DB-9595-2E1A-EFBE2CE8937A}"/>
              </a:ext>
            </a:extLst>
          </p:cNvPr>
          <p:cNvSpPr/>
          <p:nvPr/>
        </p:nvSpPr>
        <p:spPr>
          <a:xfrm>
            <a:off x="705590" y="4808539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Fine-Tuned</a:t>
            </a:r>
          </a:p>
          <a:p>
            <a:pPr algn="ctr"/>
            <a:r>
              <a:rPr lang="en-US" sz="900" dirty="0"/>
              <a:t>&amp; In-Context Learning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947A5A-396F-E5DC-FB59-CA488DFFBAD7}"/>
              </a:ext>
            </a:extLst>
          </p:cNvPr>
          <p:cNvSpPr/>
          <p:nvPr/>
        </p:nvSpPr>
        <p:spPr>
          <a:xfrm>
            <a:off x="7631552" y="2990286"/>
            <a:ext cx="1300558" cy="1841163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Completion Reusability</a:t>
            </a:r>
          </a:p>
          <a:p>
            <a:pPr algn="ctr"/>
            <a:endParaRPr lang="en-US" sz="1000" dirty="0"/>
          </a:p>
          <a:p>
            <a:pPr algn="ctr"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Menu Options</a:t>
            </a:r>
          </a:p>
          <a:p>
            <a:pPr algn="ctr"/>
            <a:r>
              <a:rPr lang="en-US" sz="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(organically growing)</a:t>
            </a:r>
          </a:p>
          <a:p>
            <a:pPr algn="ctr"/>
            <a:r>
              <a:rPr lang="en-US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Verified Completions</a:t>
            </a:r>
          </a:p>
          <a:p>
            <a:pPr algn="ctr"/>
            <a:r>
              <a:rPr lang="en-US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 Reduction</a:t>
            </a:r>
          </a:p>
          <a:p>
            <a:pPr algn="ctr"/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B7913D-48C3-3E36-912E-D32AAF17E15F}"/>
              </a:ext>
            </a:extLst>
          </p:cNvPr>
          <p:cNvSpPr/>
          <p:nvPr/>
        </p:nvSpPr>
        <p:spPr>
          <a:xfrm>
            <a:off x="6201110" y="2983254"/>
            <a:ext cx="1300558" cy="18411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Query Processing</a:t>
            </a:r>
          </a:p>
          <a:p>
            <a:pPr algn="ctr"/>
            <a:endParaRPr lang="en-US" sz="1000" dirty="0"/>
          </a:p>
          <a:p>
            <a:pPr algn="ctr"/>
            <a:r>
              <a:rPr lang="en-US" sz="800" dirty="0"/>
              <a:t>Reputational Control</a:t>
            </a:r>
          </a:p>
          <a:p>
            <a:pPr algn="ctr"/>
            <a:r>
              <a:rPr lang="en-US" sz="800" dirty="0"/>
              <a:t>Prompt Management</a:t>
            </a:r>
          </a:p>
          <a:p>
            <a:pPr algn="ctr"/>
            <a:r>
              <a:rPr lang="en-US" sz="800" dirty="0"/>
              <a:t>Prompt Optimization</a:t>
            </a:r>
          </a:p>
          <a:p>
            <a:pPr algn="ctr"/>
            <a:r>
              <a:rPr lang="en-US" sz="800" dirty="0"/>
              <a:t>Completion Retry</a:t>
            </a:r>
          </a:p>
          <a:p>
            <a:pPr algn="ctr"/>
            <a:r>
              <a:rPr lang="en-US" sz="800" dirty="0"/>
              <a:t>Query Decomposition</a:t>
            </a:r>
          </a:p>
          <a:p>
            <a:pPr algn="ctr"/>
            <a:r>
              <a:rPr lang="en-US" sz="800" dirty="0"/>
              <a:t>Dynamic Execution</a:t>
            </a:r>
          </a:p>
          <a:p>
            <a:pPr algn="ctr"/>
            <a:r>
              <a:rPr lang="en-US" sz="600" dirty="0"/>
              <a:t>(Agents &amp; Tools)</a:t>
            </a:r>
          </a:p>
          <a:p>
            <a:pPr algn="ctr"/>
            <a:r>
              <a:rPr lang="en-US" sz="800" dirty="0"/>
              <a:t>Functional Chains</a:t>
            </a:r>
          </a:p>
          <a:p>
            <a:pPr algn="ctr"/>
            <a:r>
              <a:rPr lang="en-US" sz="800" dirty="0"/>
              <a:t>Success Criteria </a:t>
            </a:r>
          </a:p>
          <a:p>
            <a:pPr algn="ctr"/>
            <a:r>
              <a:rPr lang="en-US" sz="600" dirty="0"/>
              <a:t>(Temp, Top-k &amp; Top--p)</a:t>
            </a:r>
          </a:p>
          <a:p>
            <a:pPr algn="ctr"/>
            <a:r>
              <a:rPr lang="en-US" sz="800" dirty="0"/>
              <a:t>Unified Model Access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F59025-6A5D-9501-DDA8-3F17D8D8F769}"/>
              </a:ext>
            </a:extLst>
          </p:cNvPr>
          <p:cNvSpPr/>
          <p:nvPr/>
        </p:nvSpPr>
        <p:spPr>
          <a:xfrm>
            <a:off x="3401497" y="1051516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Vector Datastores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93CEB4B-4651-CC8D-FCA4-10F92501D53E}"/>
              </a:ext>
            </a:extLst>
          </p:cNvPr>
          <p:cNvSpPr/>
          <p:nvPr/>
        </p:nvSpPr>
        <p:spPr>
          <a:xfrm>
            <a:off x="4815450" y="1051516"/>
            <a:ext cx="1300558" cy="5754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Document Lake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879941-4DDD-C419-3B9B-89E63857DA73}"/>
              </a:ext>
            </a:extLst>
          </p:cNvPr>
          <p:cNvSpPr/>
          <p:nvPr/>
        </p:nvSpPr>
        <p:spPr>
          <a:xfrm>
            <a:off x="6217954" y="1051516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Lake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FB7ED9-59FC-7187-AB70-A2D4F6B4A275}"/>
              </a:ext>
            </a:extLst>
          </p:cNvPr>
          <p:cNvSpPr/>
          <p:nvPr/>
        </p:nvSpPr>
        <p:spPr>
          <a:xfrm>
            <a:off x="3247866" y="739370"/>
            <a:ext cx="5788966" cy="964811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Corporate Data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62ABC8-8531-8D5B-D9C0-047182070A8C}"/>
              </a:ext>
            </a:extLst>
          </p:cNvPr>
          <p:cNvSpPr/>
          <p:nvPr/>
        </p:nvSpPr>
        <p:spPr>
          <a:xfrm>
            <a:off x="4781022" y="2983255"/>
            <a:ext cx="1300558" cy="184116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Prompt Templating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Composite Prompting</a:t>
            </a:r>
          </a:p>
          <a:p>
            <a:pPr algn="ctr"/>
            <a:r>
              <a:rPr lang="en-US" sz="800" dirty="0"/>
              <a:t>Follow-Up</a:t>
            </a:r>
          </a:p>
          <a:p>
            <a:pPr algn="ctr"/>
            <a:r>
              <a:rPr lang="en-US" sz="800" dirty="0"/>
              <a:t>Knowledge Extraction</a:t>
            </a:r>
          </a:p>
          <a:p>
            <a:pPr algn="ctr"/>
            <a:r>
              <a:rPr lang="en-US" sz="800" dirty="0"/>
              <a:t>Tabular Access</a:t>
            </a:r>
          </a:p>
          <a:p>
            <a:pPr algn="ctr"/>
            <a:r>
              <a:rPr lang="en-US" sz="800" dirty="0"/>
              <a:t>Q&amp;A </a:t>
            </a:r>
          </a:p>
          <a:p>
            <a:pPr algn="ctr"/>
            <a:r>
              <a:rPr lang="en-US" sz="800" dirty="0"/>
              <a:t>Summarization</a:t>
            </a:r>
          </a:p>
          <a:p>
            <a:pPr algn="ctr"/>
            <a:r>
              <a:rPr lang="en-US" sz="800" dirty="0"/>
              <a:t>Text to SQL/Cypher</a:t>
            </a:r>
          </a:p>
          <a:p>
            <a:pPr algn="ctr"/>
            <a:endParaRPr lang="en-US" sz="8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33D5059-7BAF-C5CD-0770-0657F96AD369}"/>
              </a:ext>
            </a:extLst>
          </p:cNvPr>
          <p:cNvSpPr/>
          <p:nvPr/>
        </p:nvSpPr>
        <p:spPr>
          <a:xfrm>
            <a:off x="10219970" y="2070969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Chatbot Agents</a:t>
            </a:r>
            <a:endParaRPr lang="en-US" sz="10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7C0BF4E-EA29-F9BC-DD65-DFA8DAEE00C6}"/>
              </a:ext>
            </a:extLst>
          </p:cNvPr>
          <p:cNvSpPr/>
          <p:nvPr/>
        </p:nvSpPr>
        <p:spPr>
          <a:xfrm>
            <a:off x="10219970" y="2579327"/>
            <a:ext cx="1300558" cy="403802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Information</a:t>
            </a:r>
          </a:p>
          <a:p>
            <a:pPr algn="ctr"/>
            <a:r>
              <a:rPr lang="en-US" sz="1000" b="1" dirty="0"/>
              <a:t>Retrieval (IR) *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21711EE-E449-103E-D4B5-9728EAF47F5D}"/>
              </a:ext>
            </a:extLst>
          </p:cNvPr>
          <p:cNvSpPr/>
          <p:nvPr/>
        </p:nvSpPr>
        <p:spPr>
          <a:xfrm>
            <a:off x="7629701" y="1049010"/>
            <a:ext cx="1300558" cy="575494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Stores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795B04B-EB7E-F292-1A49-84C4622A2AE3}"/>
              </a:ext>
            </a:extLst>
          </p:cNvPr>
          <p:cNvSpPr/>
          <p:nvPr/>
        </p:nvSpPr>
        <p:spPr>
          <a:xfrm>
            <a:off x="10208726" y="3094749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Semantic Analytics*</a:t>
            </a:r>
          </a:p>
          <a:p>
            <a:pPr algn="ctr"/>
            <a:r>
              <a:rPr lang="en-US" sz="800" dirty="0"/>
              <a:t>(BI &amp; Analytics)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E7F3095-A1A4-0EE6-3735-B4DA66E7564C}"/>
              </a:ext>
            </a:extLst>
          </p:cNvPr>
          <p:cNvSpPr/>
          <p:nvPr/>
        </p:nvSpPr>
        <p:spPr>
          <a:xfrm>
            <a:off x="10037788" y="1745900"/>
            <a:ext cx="1533524" cy="1867033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Customer UI Services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9A3C3F9-AE75-655F-86D5-B3EF8834DCB6}"/>
              </a:ext>
            </a:extLst>
          </p:cNvPr>
          <p:cNvSpPr/>
          <p:nvPr/>
        </p:nvSpPr>
        <p:spPr>
          <a:xfrm>
            <a:off x="10217697" y="3989877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Dataset Creation</a:t>
            </a:r>
          </a:p>
          <a:p>
            <a:pPr algn="ctr"/>
            <a:r>
              <a:rPr lang="en-US" sz="800" dirty="0"/>
              <a:t>(for Fine Tuning)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4C40511-C36B-E0B9-365D-897FCF62261D}"/>
              </a:ext>
            </a:extLst>
          </p:cNvPr>
          <p:cNvSpPr/>
          <p:nvPr/>
        </p:nvSpPr>
        <p:spPr>
          <a:xfrm>
            <a:off x="10217697" y="4505379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Prompt Creation</a:t>
            </a:r>
          </a:p>
          <a:p>
            <a:pPr algn="ctr"/>
            <a:r>
              <a:rPr lang="en-US" sz="800" dirty="0"/>
              <a:t>(IR, Q&amp;A, Chatbots)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2988744-9AB3-3C84-74AD-A20299D2E9D4}"/>
              </a:ext>
            </a:extLst>
          </p:cNvPr>
          <p:cNvSpPr/>
          <p:nvPr/>
        </p:nvSpPr>
        <p:spPr>
          <a:xfrm>
            <a:off x="10218329" y="5013657"/>
            <a:ext cx="1300558" cy="40380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Semantic Analytics</a:t>
            </a:r>
          </a:p>
          <a:p>
            <a:pPr algn="ctr"/>
            <a:r>
              <a:rPr lang="en-US" sz="800" dirty="0"/>
              <a:t>(BI &amp; Analytics)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ACC026F-4F1E-B711-9C8E-32186451DD7B}"/>
              </a:ext>
            </a:extLst>
          </p:cNvPr>
          <p:cNvSpPr/>
          <p:nvPr/>
        </p:nvSpPr>
        <p:spPr>
          <a:xfrm>
            <a:off x="10047308" y="3665020"/>
            <a:ext cx="1533524" cy="1867033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Associate UI Services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656F179-5669-D207-C178-0AFBC8C29458}"/>
              </a:ext>
            </a:extLst>
          </p:cNvPr>
          <p:cNvSpPr/>
          <p:nvPr/>
        </p:nvSpPr>
        <p:spPr>
          <a:xfrm>
            <a:off x="3318369" y="2983254"/>
            <a:ext cx="1300558" cy="18411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Dataset Services</a:t>
            </a:r>
          </a:p>
          <a:p>
            <a:pPr algn="ctr"/>
            <a:endParaRPr lang="en-US" sz="1000" b="1" dirty="0"/>
          </a:p>
          <a:p>
            <a:pPr algn="ctr"/>
            <a:endParaRPr lang="en-US" sz="1000" b="1" dirty="0"/>
          </a:p>
          <a:p>
            <a:pPr algn="ctr"/>
            <a:r>
              <a:rPr lang="en-US" sz="800" dirty="0"/>
              <a:t>Define Subject Domains</a:t>
            </a:r>
          </a:p>
          <a:p>
            <a:pPr algn="ctr"/>
            <a:r>
              <a:rPr lang="en-US" sz="800" dirty="0"/>
              <a:t>Conform Documents</a:t>
            </a:r>
          </a:p>
          <a:p>
            <a:pPr algn="ctr"/>
            <a:r>
              <a:rPr lang="en-US" sz="800" dirty="0"/>
              <a:t>Document Indexing</a:t>
            </a:r>
          </a:p>
          <a:p>
            <a:pPr algn="ctr"/>
            <a:r>
              <a:rPr lang="en-US" sz="800" dirty="0"/>
              <a:t>Knowledge Base</a:t>
            </a:r>
          </a:p>
          <a:p>
            <a:pPr algn="ctr"/>
            <a:r>
              <a:rPr lang="en-US" sz="800" dirty="0"/>
              <a:t>Similarity Search</a:t>
            </a:r>
          </a:p>
          <a:p>
            <a:pPr algn="ctr"/>
            <a:r>
              <a:rPr lang="en-US" sz="800" dirty="0"/>
              <a:t>Embeddings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8E8F177-71F5-CAEC-C875-6DE829C49311}"/>
              </a:ext>
            </a:extLst>
          </p:cNvPr>
          <p:cNvSpPr/>
          <p:nvPr/>
        </p:nvSpPr>
        <p:spPr>
          <a:xfrm>
            <a:off x="3231022" y="2496205"/>
            <a:ext cx="5788966" cy="2517452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Core Platform Services</a:t>
            </a:r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79EC093D-7189-F6D7-DA27-AEDBEEC18363}"/>
              </a:ext>
            </a:extLst>
          </p:cNvPr>
          <p:cNvSpPr/>
          <p:nvPr/>
        </p:nvSpPr>
        <p:spPr>
          <a:xfrm>
            <a:off x="5930260" y="1793632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Up-Down 46">
            <a:extLst>
              <a:ext uri="{FF2B5EF4-FFF2-40B4-BE49-F238E27FC236}">
                <a16:creationId xmlns:a16="http://schemas.microsoft.com/office/drawing/2014/main" id="{3BC41364-D6B6-2018-B243-FC885B460D52}"/>
              </a:ext>
            </a:extLst>
          </p:cNvPr>
          <p:cNvSpPr/>
          <p:nvPr/>
        </p:nvSpPr>
        <p:spPr>
          <a:xfrm rot="16200000">
            <a:off x="2334854" y="3420296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95DEE01B-8289-8D87-CA63-46D50A6A8889}"/>
              </a:ext>
            </a:extLst>
          </p:cNvPr>
          <p:cNvSpPr/>
          <p:nvPr/>
        </p:nvSpPr>
        <p:spPr>
          <a:xfrm rot="10800000">
            <a:off x="5896828" y="5067246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Up-Down 48">
            <a:extLst>
              <a:ext uri="{FF2B5EF4-FFF2-40B4-BE49-F238E27FC236}">
                <a16:creationId xmlns:a16="http://schemas.microsoft.com/office/drawing/2014/main" id="{FA79DDA9-292C-A123-B313-55668434BB6D}"/>
              </a:ext>
            </a:extLst>
          </p:cNvPr>
          <p:cNvSpPr/>
          <p:nvPr/>
        </p:nvSpPr>
        <p:spPr>
          <a:xfrm rot="5400000">
            <a:off x="9215807" y="3369490"/>
            <a:ext cx="457354" cy="625401"/>
          </a:xfrm>
          <a:prstGeom prst="upDownArrow">
            <a:avLst>
              <a:gd name="adj1" fmla="val 42310"/>
              <a:gd name="adj2" fmla="val 192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E8782DF-77FE-5417-D5A7-2CAE8E6DE2DC}"/>
              </a:ext>
            </a:extLst>
          </p:cNvPr>
          <p:cNvSpPr/>
          <p:nvPr/>
        </p:nvSpPr>
        <p:spPr>
          <a:xfrm>
            <a:off x="9974872" y="1657352"/>
            <a:ext cx="1657350" cy="3943350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1E7A8E7-928F-7C8D-5D2B-4C8B616CB105}"/>
              </a:ext>
            </a:extLst>
          </p:cNvPr>
          <p:cNvSpPr/>
          <p:nvPr/>
        </p:nvSpPr>
        <p:spPr>
          <a:xfrm>
            <a:off x="559778" y="674677"/>
            <a:ext cx="11164763" cy="6134965"/>
          </a:xfrm>
          <a:prstGeom prst="roundRect">
            <a:avLst/>
          </a:prstGeom>
          <a:noFill/>
          <a:effectLst>
            <a:softEdge rad="0"/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7F4413-4D18-C4BB-28F3-B360DDD5BF5D}"/>
              </a:ext>
            </a:extLst>
          </p:cNvPr>
          <p:cNvSpPr/>
          <p:nvPr/>
        </p:nvSpPr>
        <p:spPr>
          <a:xfrm>
            <a:off x="11409063" y="6609753"/>
            <a:ext cx="834225" cy="2431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6">
                    <a:lumMod val="50000"/>
                  </a:schemeClr>
                </a:solidFill>
              </a:rPr>
              <a:t>* - No Direct Access</a:t>
            </a:r>
          </a:p>
        </p:txBody>
      </p:sp>
    </p:spTree>
    <p:extLst>
      <p:ext uri="{BB962C8B-B14F-4D97-AF65-F5344CB8AC3E}">
        <p14:creationId xmlns:p14="http://schemas.microsoft.com/office/powerpoint/2010/main" val="3498161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1209</Words>
  <Application>Microsoft Office PowerPoint</Application>
  <PresentationFormat>Widescreen</PresentationFormat>
  <Paragraphs>484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High Value Use-Case Identification</vt:lpstr>
      <vt:lpstr>Managing Reputational Risk</vt:lpstr>
      <vt:lpstr>Delivery Lifecycle, Effectiveness &amp; Cost Management</vt:lpstr>
      <vt:lpstr>Large Language Model Platform – Target State</vt:lpstr>
      <vt:lpstr>Phased Delivery</vt:lpstr>
      <vt:lpstr>Tools, Frameworks &amp; Sstandards</vt:lpstr>
      <vt:lpstr>MVP 1</vt:lpstr>
      <vt:lpstr>MVP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Ivana Bilav (ZAG-Stud)</dc:creator>
  <cp:lastModifiedBy>Ivana Bilav (ZAG-Stud)</cp:lastModifiedBy>
  <cp:revision>108</cp:revision>
  <dcterms:created xsi:type="dcterms:W3CDTF">2023-03-24T19:33:07Z</dcterms:created>
  <dcterms:modified xsi:type="dcterms:W3CDTF">2023-03-27T12:07:05Z</dcterms:modified>
</cp:coreProperties>
</file>